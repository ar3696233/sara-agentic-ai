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596" y="-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397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5.png"/><Relationship Id="rId5" Type="http://schemas.openxmlformats.org/officeDocument/2006/relationships/image" Target="../media/image7.png"/><Relationship Id="rId10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3.png"/><Relationship Id="rId18" Type="http://schemas.openxmlformats.org/officeDocument/2006/relationships/image" Target="../media/image25.png"/><Relationship Id="rId3" Type="http://schemas.openxmlformats.org/officeDocument/2006/relationships/image" Target="../media/image5.png"/><Relationship Id="rId21" Type="http://schemas.openxmlformats.org/officeDocument/2006/relationships/image" Target="../media/image8.png"/><Relationship Id="rId7" Type="http://schemas.openxmlformats.org/officeDocument/2006/relationships/image" Target="../media/image18.png"/><Relationship Id="rId12" Type="http://schemas.openxmlformats.org/officeDocument/2006/relationships/image" Target="../media/image22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.png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4.png"/><Relationship Id="rId15" Type="http://schemas.openxmlformats.org/officeDocument/2006/relationships/image" Target="../media/image2.png"/><Relationship Id="rId23" Type="http://schemas.openxmlformats.org/officeDocument/2006/relationships/image" Target="../media/image13.png"/><Relationship Id="rId10" Type="http://schemas.openxmlformats.org/officeDocument/2006/relationships/image" Target="../media/image20.png"/><Relationship Id="rId19" Type="http://schemas.openxmlformats.org/officeDocument/2006/relationships/image" Target="../media/image4.png"/><Relationship Id="rId4" Type="http://schemas.openxmlformats.org/officeDocument/2006/relationships/image" Target="../media/image16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12.png"/><Relationship Id="rId4" Type="http://schemas.openxmlformats.org/officeDocument/2006/relationships/image" Target="../media/image13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8.png"/><Relationship Id="rId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23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E3A8A">
              <a:alpha val="22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4C1D95">
              <a:alpha val="20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3200400"/>
            <a:ext cx="3657600" cy="3657600"/>
          </a:xfrm>
          <a:prstGeom prst="ellipse">
            <a:avLst/>
          </a:prstGeom>
          <a:solidFill>
            <a:srgbClr val="064E3B">
              <a:alpha val="18000"/>
            </a:srgbClr>
          </a:solidFill>
          <a:ln w="12700">
            <a:solidFill>
              <a:srgbClr val="064E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4173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SARA AI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457200" y="2514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6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 </a:t>
            </a: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6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ccessible  </a:t>
            </a: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6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eader  &amp;  </a:t>
            </a: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6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ssistant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0358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Study Assistant for Visually Impaired K-12 Students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520440"/>
            <a:ext cx="4572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3657600"/>
            <a:ext cx="4572000" cy="129844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" y="373075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👨‍💻 Creators &amp; Developers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395935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Rai  &amp;  Sparsh Ruhela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94360" y="435254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Mentor: </a:t>
            </a: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Vineeta Garg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🏫 Shaheed Rajpal DAV Public School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463600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One of the Greatest Innovations of the Decade  ✦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0" y="1005840"/>
            <a:ext cx="1508760" cy="1600200"/>
          </a:xfrm>
          <a:prstGeom prst="rect">
            <a:avLst/>
          </a:prstGeom>
          <a:solidFill>
            <a:srgbClr val="0F1F3D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760720" y="1005840"/>
            <a:ext cx="1508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115568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760720" y="16276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5760720" y="21305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424928" y="1005840"/>
            <a:ext cx="1508760" cy="1600200"/>
          </a:xfrm>
          <a:prstGeom prst="rect">
            <a:avLst/>
          </a:prstGeom>
          <a:solidFill>
            <a:srgbClr val="0F1F3D"/>
          </a:solidFill>
          <a:ln w="12700">
            <a:solidFill>
              <a:srgbClr val="06B6D4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424928" y="1005840"/>
            <a:ext cx="15087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136" y="1115568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424928" y="16276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7424928" y="21305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760720" y="2834640"/>
            <a:ext cx="1508760" cy="1600200"/>
          </a:xfrm>
          <a:prstGeom prst="rect">
            <a:avLst/>
          </a:prstGeom>
          <a:solidFill>
            <a:srgbClr val="0F1F3D"/>
          </a:solidFill>
          <a:ln w="12700">
            <a:solidFill>
              <a:srgbClr val="8B5CF6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760720" y="2834640"/>
            <a:ext cx="1508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2944368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760720" y="34564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20+</a:t>
            </a:r>
            <a:endParaRPr lang="en-US" sz="2800" dirty="0"/>
          </a:p>
        </p:txBody>
      </p:sp>
      <p:sp>
        <p:nvSpPr>
          <p:cNvPr id="30" name="Text 24"/>
          <p:cNvSpPr/>
          <p:nvPr/>
        </p:nvSpPr>
        <p:spPr>
          <a:xfrm>
            <a:off x="5760720" y="39593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424928" y="2834640"/>
            <a:ext cx="1508760" cy="1600200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424928" y="2834640"/>
            <a:ext cx="1508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6136" y="2944368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424928" y="34564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253M</a:t>
            </a:r>
            <a:endParaRPr lang="en-US" sz="2800" dirty="0"/>
          </a:p>
        </p:txBody>
      </p:sp>
      <p:sp>
        <p:nvSpPr>
          <p:cNvPr id="35" name="Text 28"/>
          <p:cNvSpPr/>
          <p:nvPr/>
        </p:nvSpPr>
        <p:spPr>
          <a:xfrm>
            <a:off x="7424928" y="39593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Benefit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30F22"/>
          </a:solidFill>
          <a:ln w="12700">
            <a:solidFill>
              <a:srgbClr val="030F22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❝ Created with love for the ones who can make this world a beautiful place to live in ❞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566928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253</a:t>
            </a:r>
            <a:endParaRPr lang="en-US" sz="5600" dirty="0"/>
          </a:p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Million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28600" y="18745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Impaired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Worldwide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28600" y="263347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most AI tools are completely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unusable without sight.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33756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3886200"/>
            <a:ext cx="3108960" cy="457200"/>
          </a:xfrm>
          <a:prstGeom prst="rect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39319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39776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tutors built for VI students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4434840"/>
            <a:ext cx="3108960" cy="457200"/>
          </a:xfrm>
          <a:prstGeom prst="rect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448056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in 7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97280" y="45262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have vision impairment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40480" y="228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visually impaired students face: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749040" y="713232"/>
            <a:ext cx="512064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EF4444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749040" y="713232"/>
            <a:ext cx="64008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768" y="859536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07408" y="75895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 most study apps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407408" y="106070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rely entirely on visual interaction — buttons, menus, drag &amp; drop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749040" y="1577340"/>
            <a:ext cx="512064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749040" y="1577340"/>
            <a:ext cx="64008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768" y="1723644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407408" y="162306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personalised AI tutor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407408" y="192481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chatbots give the same answer to everyone regardless of grade or topic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749040" y="2441448"/>
            <a:ext cx="512064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749040" y="2441448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768" y="2587752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407408" y="248716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tools are too basic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407408" y="27889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just read text aloud — no teaching, quizzing or adaptive learning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749040" y="3305556"/>
            <a:ext cx="512064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749040" y="3305556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768" y="3451860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407408" y="3351276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critical exam reminders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407408" y="365302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tool reads their timetable &amp; sends reminders at the right time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3749040" y="4169664"/>
            <a:ext cx="512064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06B6D4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749040" y="4169664"/>
            <a:ext cx="64008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8768" y="4315968"/>
            <a:ext cx="457200" cy="4572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407408" y="4215384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accessibility barriers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4407408" y="451713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work only in English with no font/spacing controls for dyslexia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SARA — Not just a chatbot. A complete AI companion.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703320" y="960120"/>
            <a:ext cx="1737360" cy="1737360"/>
          </a:xfrm>
          <a:prstGeom prst="ellipse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  <a:effectLst>
            <a:outerShdw blurRad="228600" dist="50800" dir="8100000" algn="bl" rotWithShape="0">
              <a:srgbClr val="3B82F6">
                <a:alpha val="3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051560"/>
            <a:ext cx="1280160" cy="1280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960120"/>
            <a:ext cx="3291840" cy="1170432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960120"/>
            <a:ext cx="329184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2608" y="1188720"/>
            <a:ext cx="594360" cy="59436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121615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Teacher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05840" y="143560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structured lessons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topic, any grade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182880" y="2313432"/>
            <a:ext cx="3291840" cy="1170432"/>
          </a:xfrm>
          <a:prstGeom prst="rect">
            <a:avLst/>
          </a:prstGeom>
          <a:solidFill>
            <a:srgbClr val="0F1F3D"/>
          </a:solidFill>
          <a:ln w="12700">
            <a:solidFill>
              <a:srgbClr val="8B5CF6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82880" y="2313432"/>
            <a:ext cx="32918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92608" y="2542032"/>
            <a:ext cx="594360" cy="594360"/>
          </a:xfrm>
          <a:prstGeom prst="ellipse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2569464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24505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AI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05840" y="27889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 plans, tracks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adapts to each student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82880" y="3666744"/>
            <a:ext cx="3291840" cy="1170432"/>
          </a:xfrm>
          <a:prstGeom prst="rect">
            <a:avLst/>
          </a:prstGeom>
          <a:solidFill>
            <a:srgbClr val="0F1F3D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82880" y="3666744"/>
            <a:ext cx="32918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92608" y="3895344"/>
            <a:ext cx="594360" cy="594360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3922776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8039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 Voice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005840" y="414223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commands — complete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without a screen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669280" y="960120"/>
            <a:ext cx="3291840" cy="1170432"/>
          </a:xfrm>
          <a:prstGeom prst="rect">
            <a:avLst/>
          </a:prstGeom>
          <a:solidFill>
            <a:srgbClr val="0F1F3D"/>
          </a:solidFill>
          <a:ln w="12700">
            <a:solidFill>
              <a:srgbClr val="EC4899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669280" y="960120"/>
            <a:ext cx="329184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779008" y="1188720"/>
            <a:ext cx="594360" cy="594360"/>
          </a:xfrm>
          <a:prstGeom prst="ellipse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4728" y="1216152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49224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Email Reminders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492240" y="143560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timetable &amp; sends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 alerts via email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5669280" y="2313432"/>
            <a:ext cx="3291840" cy="1170432"/>
          </a:xfrm>
          <a:prstGeom prst="rect">
            <a:avLst/>
          </a:prstGeom>
          <a:solidFill>
            <a:srgbClr val="0F1F3D"/>
          </a:solidFill>
          <a:ln w="12700">
            <a:solidFill>
              <a:srgbClr val="06B6D4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5669280" y="2313432"/>
            <a:ext cx="32918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779008" y="2542032"/>
            <a:ext cx="594360" cy="59436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4728" y="2569464"/>
            <a:ext cx="502920" cy="5029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492240" y="24505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Languages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6492240" y="27889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Tamil, Telugu,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French, Spanish &amp; more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5669280" y="3666744"/>
            <a:ext cx="3291840" cy="1170432"/>
          </a:xfrm>
          <a:prstGeom prst="rect">
            <a:avLst/>
          </a:prstGeom>
          <a:solidFill>
            <a:srgbClr val="0F1F3D"/>
          </a:solidFill>
          <a:ln w="12700">
            <a:solidFill>
              <a:srgbClr val="EF4444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5669280" y="3666744"/>
            <a:ext cx="32918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5779008" y="3895344"/>
            <a:ext cx="594360" cy="594360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4728" y="3922776"/>
            <a:ext cx="502920" cy="5029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492240" y="38039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Accessibility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6492240" y="414223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mode, Dyslexia mode,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font &amp; spacing controls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  •  No server  •  No installation  •  Free forever  •  Works on any browser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SARA AI  vs  Normal AI Chatbot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" y="777240"/>
            <a:ext cx="4023360" cy="530352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859536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8046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Normal AI Chatbot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892040" y="777240"/>
            <a:ext cx="4023360" cy="53035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859536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13248" y="8046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SARA AI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4315968" y="822960"/>
            <a:ext cx="512064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315968" y="822960"/>
            <a:ext cx="512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08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28600" y="1408176"/>
            <a:ext cx="8686800" cy="448056"/>
          </a:xfrm>
          <a:prstGeom prst="rect">
            <a:avLst/>
          </a:prstGeom>
          <a:solidFill>
            <a:srgbClr val="0F1829"/>
          </a:solidFill>
          <a:ln w="12700">
            <a:solidFill>
              <a:srgbClr val="0F1829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49961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4360" y="1481328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answers questions typed by user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1481328"/>
            <a:ext cx="274320" cy="274320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99616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83480" y="1481328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Teaches, plans, analyses &amp; acts autonomously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228600" y="1869948"/>
            <a:ext cx="8686800" cy="448056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prstDash val="solid"/>
          </a:ln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961388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94360" y="194310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 everything the moment you close</a:t>
            </a:r>
            <a:endParaRPr lang="en-US" sz="11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4528" y="1943100"/>
            <a:ext cx="274320" cy="274320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961388"/>
            <a:ext cx="256032" cy="25603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4983480" y="194310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all quiz scores, weak topics &amp; progress</a:t>
            </a:r>
            <a:endParaRPr lang="en-US" sz="1100" dirty="0"/>
          </a:p>
        </p:txBody>
      </p:sp>
      <p:sp>
        <p:nvSpPr>
          <p:cNvPr id="23" name="Shape 13"/>
          <p:cNvSpPr/>
          <p:nvPr/>
        </p:nvSpPr>
        <p:spPr>
          <a:xfrm>
            <a:off x="228600" y="2331720"/>
            <a:ext cx="8686800" cy="448056"/>
          </a:xfrm>
          <a:prstGeom prst="rect">
            <a:avLst/>
          </a:prstGeom>
          <a:solidFill>
            <a:srgbClr val="0F1829"/>
          </a:solidFill>
          <a:ln w="12700">
            <a:solidFill>
              <a:srgbClr val="0F1829"/>
            </a:solidFill>
            <a:prstDash val="solid"/>
          </a:ln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423160"/>
            <a:ext cx="256032" cy="25603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94360" y="240487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used without seeing the screen</a:t>
            </a:r>
            <a:endParaRPr lang="en-US" sz="11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4528" y="2404872"/>
            <a:ext cx="274320" cy="274320"/>
          </a:xfrm>
          <a:prstGeom prst="rect">
            <a:avLst/>
          </a:prstGeom>
        </p:spPr>
      </p:pic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423160"/>
            <a:ext cx="256032" cy="256032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4983480" y="2404872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voice controlled — zero screen required</a:t>
            </a:r>
            <a:endParaRPr lang="en-US" sz="1100" dirty="0"/>
          </a:p>
        </p:txBody>
      </p:sp>
      <p:sp>
        <p:nvSpPr>
          <p:cNvPr id="29" name="Shape 16"/>
          <p:cNvSpPr/>
          <p:nvPr/>
        </p:nvSpPr>
        <p:spPr>
          <a:xfrm>
            <a:off x="228600" y="2793492"/>
            <a:ext cx="8686800" cy="448056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prstDash val="solid"/>
          </a:ln>
        </p:spPr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884932"/>
            <a:ext cx="256032" cy="25603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94360" y="2866644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produces text — no audio output</a:t>
            </a:r>
            <a:endParaRPr lang="en-US" sz="110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4528" y="2866644"/>
            <a:ext cx="274320" cy="274320"/>
          </a:xfrm>
          <a:prstGeom prst="rect">
            <a:avLst/>
          </a:prstGeom>
        </p:spPr>
      </p:pic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884932"/>
            <a:ext cx="256032" cy="256032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4983480" y="2866644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response aloud in chosen language</a:t>
            </a:r>
            <a:endParaRPr lang="en-US" sz="1100" dirty="0"/>
          </a:p>
        </p:txBody>
      </p:sp>
      <p:sp>
        <p:nvSpPr>
          <p:cNvPr id="35" name="Shape 19"/>
          <p:cNvSpPr/>
          <p:nvPr/>
        </p:nvSpPr>
        <p:spPr>
          <a:xfrm>
            <a:off x="228600" y="3255264"/>
            <a:ext cx="8686800" cy="448056"/>
          </a:xfrm>
          <a:prstGeom prst="rect">
            <a:avLst/>
          </a:prstGeom>
          <a:solidFill>
            <a:srgbClr val="0F1829"/>
          </a:solidFill>
          <a:ln w="12700">
            <a:solidFill>
              <a:srgbClr val="0F1829"/>
            </a:solidFill>
            <a:prstDash val="solid"/>
          </a:ln>
        </p:spPr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3346704"/>
            <a:ext cx="256032" cy="256032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594360" y="3328416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only — no language switching</a:t>
            </a:r>
            <a:endParaRPr lang="en-US" sz="1100" dirty="0"/>
          </a:p>
        </p:txBody>
      </p:sp>
      <p:pic>
        <p:nvPicPr>
          <p:cNvPr id="38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4528" y="3328416"/>
            <a:ext cx="274320" cy="274320"/>
          </a:xfrm>
          <a:prstGeom prst="rect">
            <a:avLst/>
          </a:prstGeom>
        </p:spPr>
      </p:pic>
      <p:pic>
        <p:nvPicPr>
          <p:cNvPr id="39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346704"/>
            <a:ext cx="256032" cy="256032"/>
          </a:xfrm>
          <a:prstGeom prst="rect">
            <a:avLst/>
          </a:prstGeom>
        </p:spPr>
      </p:pic>
      <p:sp>
        <p:nvSpPr>
          <p:cNvPr id="40" name="Text 21"/>
          <p:cNvSpPr/>
          <p:nvPr/>
        </p:nvSpPr>
        <p:spPr>
          <a:xfrm>
            <a:off x="4983480" y="3328416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languages: Hindi, Tamil, Telugu, French &amp; more</a:t>
            </a:r>
            <a:endParaRPr lang="en-US" sz="1100" dirty="0"/>
          </a:p>
        </p:txBody>
      </p:sp>
      <p:sp>
        <p:nvSpPr>
          <p:cNvPr id="41" name="Shape 22"/>
          <p:cNvSpPr/>
          <p:nvPr/>
        </p:nvSpPr>
        <p:spPr>
          <a:xfrm>
            <a:off x="228600" y="3717036"/>
            <a:ext cx="8686800" cy="448056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prstDash val="solid"/>
          </a:ln>
        </p:spPr>
      </p:sp>
      <p:pic>
        <p:nvPicPr>
          <p:cNvPr id="42" name="Image 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3808476"/>
            <a:ext cx="256032" cy="256032"/>
          </a:xfrm>
          <a:prstGeom prst="rect">
            <a:avLst/>
          </a:prstGeom>
        </p:spPr>
      </p:pic>
      <p:sp>
        <p:nvSpPr>
          <p:cNvPr id="43" name="Text 23"/>
          <p:cNvSpPr/>
          <p:nvPr/>
        </p:nvSpPr>
        <p:spPr>
          <a:xfrm>
            <a:off x="594360" y="3790188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scheduling or reminder system</a:t>
            </a:r>
            <a:endParaRPr lang="en-US" sz="1100" dirty="0"/>
          </a:p>
        </p:txBody>
      </p:sp>
      <p:pic>
        <p:nvPicPr>
          <p:cNvPr id="44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24528" y="3790188"/>
            <a:ext cx="274320" cy="274320"/>
          </a:xfrm>
          <a:prstGeom prst="rect">
            <a:avLst/>
          </a:prstGeom>
        </p:spPr>
      </p:pic>
      <p:pic>
        <p:nvPicPr>
          <p:cNvPr id="45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808476"/>
            <a:ext cx="256032" cy="256032"/>
          </a:xfrm>
          <a:prstGeom prst="rect">
            <a:avLst/>
          </a:prstGeom>
        </p:spPr>
      </p:pic>
      <p:sp>
        <p:nvSpPr>
          <p:cNvPr id="46" name="Text 24"/>
          <p:cNvSpPr/>
          <p:nvPr/>
        </p:nvSpPr>
        <p:spPr>
          <a:xfrm>
            <a:off x="4983480" y="3790188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timetable &amp; sends real email reminders</a:t>
            </a:r>
            <a:endParaRPr lang="en-US" sz="1100" dirty="0"/>
          </a:p>
        </p:txBody>
      </p:sp>
      <p:sp>
        <p:nvSpPr>
          <p:cNvPr id="47" name="Shape 25"/>
          <p:cNvSpPr/>
          <p:nvPr/>
        </p:nvSpPr>
        <p:spPr>
          <a:xfrm>
            <a:off x="228600" y="4178808"/>
            <a:ext cx="8686800" cy="448056"/>
          </a:xfrm>
          <a:prstGeom prst="rect">
            <a:avLst/>
          </a:prstGeom>
          <a:solidFill>
            <a:srgbClr val="0F1829"/>
          </a:solidFill>
          <a:ln w="12700">
            <a:solidFill>
              <a:srgbClr val="0F1829"/>
            </a:solidFill>
            <a:prstDash val="solid"/>
          </a:ln>
        </p:spPr>
      </p:sp>
      <p:pic>
        <p:nvPicPr>
          <p:cNvPr id="48" name="Image 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4270248"/>
            <a:ext cx="256032" cy="256032"/>
          </a:xfrm>
          <a:prstGeom prst="rect">
            <a:avLst/>
          </a:prstGeom>
        </p:spPr>
      </p:pic>
      <p:sp>
        <p:nvSpPr>
          <p:cNvPr id="49" name="Text 26"/>
          <p:cNvSpPr/>
          <p:nvPr/>
        </p:nvSpPr>
        <p:spPr>
          <a:xfrm>
            <a:off x="594360" y="425196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answers for everyone</a:t>
            </a:r>
            <a:endParaRPr lang="en-US" sz="1100" dirty="0"/>
          </a:p>
        </p:txBody>
      </p:sp>
      <p:pic>
        <p:nvPicPr>
          <p:cNvPr id="50" name="Image 2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4528" y="4251960"/>
            <a:ext cx="274320" cy="274320"/>
          </a:xfrm>
          <a:prstGeom prst="rect">
            <a:avLst/>
          </a:prstGeom>
        </p:spPr>
      </p:pic>
      <p:pic>
        <p:nvPicPr>
          <p:cNvPr id="51" name="Image 2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270248"/>
            <a:ext cx="256032" cy="256032"/>
          </a:xfrm>
          <a:prstGeom prst="rect">
            <a:avLst/>
          </a:prstGeom>
        </p:spPr>
      </p:pic>
      <p:sp>
        <p:nvSpPr>
          <p:cNvPr id="52" name="Text 27"/>
          <p:cNvSpPr/>
          <p:nvPr/>
        </p:nvSpPr>
        <p:spPr>
          <a:xfrm>
            <a:off x="4983480" y="425196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K-12 curriculum-aware, grade &amp; board specific</a:t>
            </a:r>
            <a:endParaRPr lang="en-US" sz="1100" dirty="0"/>
          </a:p>
        </p:txBody>
      </p:sp>
      <p:sp>
        <p:nvSpPr>
          <p:cNvPr id="53" name="Shape 28"/>
          <p:cNvSpPr/>
          <p:nvPr/>
        </p:nvSpPr>
        <p:spPr>
          <a:xfrm>
            <a:off x="228600" y="4640580"/>
            <a:ext cx="8686800" cy="448056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prstDash val="solid"/>
          </a:ln>
        </p:spPr>
      </p:sp>
      <p:pic>
        <p:nvPicPr>
          <p:cNvPr id="54" name="Image 2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4732020"/>
            <a:ext cx="256032" cy="256032"/>
          </a:xfrm>
          <a:prstGeom prst="rect">
            <a:avLst/>
          </a:prstGeom>
        </p:spPr>
      </p:pic>
      <p:sp>
        <p:nvSpPr>
          <p:cNvPr id="55" name="Text 29"/>
          <p:cNvSpPr/>
          <p:nvPr/>
        </p:nvSpPr>
        <p:spPr>
          <a:xfrm>
            <a:off x="594360" y="471373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accessibility features</a:t>
            </a:r>
            <a:endParaRPr lang="en-US" sz="1100" dirty="0"/>
          </a:p>
        </p:txBody>
      </p:sp>
      <p:pic>
        <p:nvPicPr>
          <p:cNvPr id="56" name="Image 2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4528" y="4713732"/>
            <a:ext cx="274320" cy="274320"/>
          </a:xfrm>
          <a:prstGeom prst="rect">
            <a:avLst/>
          </a:prstGeom>
        </p:spPr>
      </p:pic>
      <p:pic>
        <p:nvPicPr>
          <p:cNvPr id="57" name="Image 2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732020"/>
            <a:ext cx="256032" cy="256032"/>
          </a:xfrm>
          <a:prstGeom prst="rect">
            <a:avLst/>
          </a:prstGeom>
        </p:spPr>
      </p:pic>
      <p:sp>
        <p:nvSpPr>
          <p:cNvPr id="58" name="Text 30"/>
          <p:cNvSpPr/>
          <p:nvPr/>
        </p:nvSpPr>
        <p:spPr>
          <a:xfrm>
            <a:off x="4983480" y="4713732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mode, Dyslexia mode, font &amp; spacing controls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FEATURE SET  —  20+ Features Built In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" y="713232"/>
            <a:ext cx="2084832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7680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749808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Core Learning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37160" y="1261872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8600" y="1380744"/>
            <a:ext cx="457200" cy="457200"/>
          </a:xfrm>
          <a:prstGeom prst="ellipse">
            <a:avLst/>
          </a:prstGeom>
          <a:solidFill>
            <a:srgbClr val="3B82F6">
              <a:alpha val="28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408176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1325880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Teacher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49808" y="161848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structured lessons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137160" y="2025396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28600" y="2144268"/>
            <a:ext cx="457200" cy="457200"/>
          </a:xfrm>
          <a:prstGeom prst="ellipse">
            <a:avLst/>
          </a:prstGeom>
          <a:solidFill>
            <a:srgbClr val="3B82F6">
              <a:alpha val="28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2171700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8" y="2089404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Read Aloud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49808" y="2382012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lesson read aloud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137160" y="2788920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28600" y="2907792"/>
            <a:ext cx="457200" cy="457200"/>
          </a:xfrm>
          <a:prstGeom prst="ellipse">
            <a:avLst/>
          </a:prstGeom>
          <a:solidFill>
            <a:srgbClr val="3B82F6">
              <a:alpha val="28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2935224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9808" y="285292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Quiz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49808" y="3145536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with AI feedback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137160" y="3552444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228600" y="3671316"/>
            <a:ext cx="457200" cy="457200"/>
          </a:xfrm>
          <a:prstGeom prst="ellipse">
            <a:avLst/>
          </a:prstGeom>
          <a:solidFill>
            <a:srgbClr val="3B82F6">
              <a:alpha val="28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" y="3698748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9808" y="3616452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49808" y="3909060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Voice-controlled review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137160" y="4315968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228600" y="4434840"/>
            <a:ext cx="457200" cy="457200"/>
          </a:xfrm>
          <a:prstGeom prst="ellipse">
            <a:avLst/>
          </a:prstGeom>
          <a:solidFill>
            <a:srgbClr val="3B82F6">
              <a:alpha val="28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32" y="4462272"/>
            <a:ext cx="402336" cy="40233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49808" y="4379976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Mode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749808" y="4672584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with score analysis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2377440" y="713232"/>
            <a:ext cx="2084832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0592" y="768096"/>
            <a:ext cx="384048" cy="38404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2880360" y="749808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Agentic AI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2377440" y="1261872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8B5CF6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2468880" y="1380744"/>
            <a:ext cx="457200" cy="457200"/>
          </a:xfrm>
          <a:prstGeom prst="ellipse">
            <a:avLst/>
          </a:prstGeom>
          <a:solidFill>
            <a:srgbClr val="8B5CF6">
              <a:alpha val="28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6312" y="1408176"/>
            <a:ext cx="402336" cy="40233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2990088" y="1325880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2990088" y="161848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&amp; adapts plan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2377440" y="2025396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8B5CF6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2468880" y="2144268"/>
            <a:ext cx="457200" cy="457200"/>
          </a:xfrm>
          <a:prstGeom prst="ellipse">
            <a:avLst/>
          </a:prstGeom>
          <a:solidFill>
            <a:srgbClr val="8B5CF6">
              <a:alpha val="28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96312" y="2171700"/>
            <a:ext cx="402336" cy="402336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2990088" y="2089404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Planner</a:t>
            </a:r>
            <a:endParaRPr lang="en-US" sz="1100" dirty="0"/>
          </a:p>
        </p:txBody>
      </p:sp>
      <p:sp>
        <p:nvSpPr>
          <p:cNvPr id="44" name="Text 33"/>
          <p:cNvSpPr/>
          <p:nvPr/>
        </p:nvSpPr>
        <p:spPr>
          <a:xfrm>
            <a:off x="2990088" y="2382012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Day-by-day AI schedule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2377440" y="2788920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8B5CF6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2468880" y="2907792"/>
            <a:ext cx="457200" cy="457200"/>
          </a:xfrm>
          <a:prstGeom prst="ellipse">
            <a:avLst/>
          </a:prstGeom>
          <a:solidFill>
            <a:srgbClr val="8B5CF6">
              <a:alpha val="28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96312" y="2935224"/>
            <a:ext cx="402336" cy="402336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2990088" y="285292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 Agent</a:t>
            </a:r>
            <a:endParaRPr lang="en-US" sz="1100" dirty="0"/>
          </a:p>
        </p:txBody>
      </p:sp>
      <p:sp>
        <p:nvSpPr>
          <p:cNvPr id="49" name="Text 37"/>
          <p:cNvSpPr/>
          <p:nvPr/>
        </p:nvSpPr>
        <p:spPr>
          <a:xfrm>
            <a:off x="2990088" y="3145536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exam questions</a:t>
            </a:r>
            <a:endParaRPr lang="en-US" sz="900" dirty="0"/>
          </a:p>
        </p:txBody>
      </p:sp>
      <p:sp>
        <p:nvSpPr>
          <p:cNvPr id="50" name="Shape 38"/>
          <p:cNvSpPr/>
          <p:nvPr/>
        </p:nvSpPr>
        <p:spPr>
          <a:xfrm>
            <a:off x="2377440" y="3552444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8B5CF6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1" name="Shape 39"/>
          <p:cNvSpPr/>
          <p:nvPr/>
        </p:nvSpPr>
        <p:spPr>
          <a:xfrm>
            <a:off x="2468880" y="3671316"/>
            <a:ext cx="457200" cy="457200"/>
          </a:xfrm>
          <a:prstGeom prst="ellipse">
            <a:avLst/>
          </a:prstGeom>
          <a:solidFill>
            <a:srgbClr val="8B5CF6">
              <a:alpha val="28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6312" y="3698748"/>
            <a:ext cx="402336" cy="402336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2990088" y="3616452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</a:t>
            </a:r>
            <a:endParaRPr lang="en-US" sz="1100" dirty="0"/>
          </a:p>
        </p:txBody>
      </p:sp>
      <p:sp>
        <p:nvSpPr>
          <p:cNvPr id="54" name="Text 41"/>
          <p:cNvSpPr/>
          <p:nvPr/>
        </p:nvSpPr>
        <p:spPr>
          <a:xfrm>
            <a:off x="2990088" y="3909060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daily goals</a:t>
            </a:r>
            <a:endParaRPr lang="en-US" sz="900" dirty="0"/>
          </a:p>
        </p:txBody>
      </p:sp>
      <p:sp>
        <p:nvSpPr>
          <p:cNvPr id="55" name="Shape 42"/>
          <p:cNvSpPr/>
          <p:nvPr/>
        </p:nvSpPr>
        <p:spPr>
          <a:xfrm>
            <a:off x="2377440" y="4315968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8B5CF6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Shape 43"/>
          <p:cNvSpPr/>
          <p:nvPr/>
        </p:nvSpPr>
        <p:spPr>
          <a:xfrm>
            <a:off x="2468880" y="4434840"/>
            <a:ext cx="457200" cy="457200"/>
          </a:xfrm>
          <a:prstGeom prst="ellipse">
            <a:avLst/>
          </a:prstGeom>
          <a:solidFill>
            <a:srgbClr val="8B5CF6">
              <a:alpha val="28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57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6312" y="4462272"/>
            <a:ext cx="402336" cy="402336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2990088" y="4379976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 Solver</a:t>
            </a:r>
            <a:endParaRPr lang="en-US" sz="1100" dirty="0"/>
          </a:p>
        </p:txBody>
      </p:sp>
      <p:sp>
        <p:nvSpPr>
          <p:cNvPr id="59" name="Text 45"/>
          <p:cNvSpPr/>
          <p:nvPr/>
        </p:nvSpPr>
        <p:spPr>
          <a:xfrm>
            <a:off x="2990088" y="4672584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doubt chat</a:t>
            </a:r>
            <a:endParaRPr lang="en-US" sz="900" dirty="0"/>
          </a:p>
        </p:txBody>
      </p:sp>
      <p:sp>
        <p:nvSpPr>
          <p:cNvPr id="60" name="Shape 46"/>
          <p:cNvSpPr/>
          <p:nvPr/>
        </p:nvSpPr>
        <p:spPr>
          <a:xfrm>
            <a:off x="4617720" y="713232"/>
            <a:ext cx="208483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61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90872" y="768096"/>
            <a:ext cx="384048" cy="384048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5120640" y="749808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 Accessibility</a:t>
            </a:r>
            <a:endParaRPr lang="en-US" sz="1100" dirty="0"/>
          </a:p>
        </p:txBody>
      </p:sp>
      <p:sp>
        <p:nvSpPr>
          <p:cNvPr id="63" name="Shape 48"/>
          <p:cNvSpPr/>
          <p:nvPr/>
        </p:nvSpPr>
        <p:spPr>
          <a:xfrm>
            <a:off x="4617720" y="1261872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10B981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4" name="Shape 49"/>
          <p:cNvSpPr/>
          <p:nvPr/>
        </p:nvSpPr>
        <p:spPr>
          <a:xfrm>
            <a:off x="4709160" y="1380744"/>
            <a:ext cx="457200" cy="457200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36592" y="1408176"/>
            <a:ext cx="402336" cy="402336"/>
          </a:xfrm>
          <a:prstGeom prst="rect">
            <a:avLst/>
          </a:prstGeom>
        </p:spPr>
      </p:pic>
      <p:sp>
        <p:nvSpPr>
          <p:cNvPr id="66" name="Text 50"/>
          <p:cNvSpPr/>
          <p:nvPr/>
        </p:nvSpPr>
        <p:spPr>
          <a:xfrm>
            <a:off x="5230368" y="1325880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Voice Cmds</a:t>
            </a:r>
            <a:endParaRPr lang="en-US" sz="1100" dirty="0"/>
          </a:p>
        </p:txBody>
      </p:sp>
      <p:sp>
        <p:nvSpPr>
          <p:cNvPr id="67" name="Text 51"/>
          <p:cNvSpPr/>
          <p:nvPr/>
        </p:nvSpPr>
        <p:spPr>
          <a:xfrm>
            <a:off x="5230368" y="161848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voice app control</a:t>
            </a:r>
            <a:endParaRPr lang="en-US" sz="900" dirty="0"/>
          </a:p>
        </p:txBody>
      </p:sp>
      <p:sp>
        <p:nvSpPr>
          <p:cNvPr id="68" name="Shape 52"/>
          <p:cNvSpPr/>
          <p:nvPr/>
        </p:nvSpPr>
        <p:spPr>
          <a:xfrm>
            <a:off x="4617720" y="2025396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10B981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9" name="Shape 53"/>
          <p:cNvSpPr/>
          <p:nvPr/>
        </p:nvSpPr>
        <p:spPr>
          <a:xfrm>
            <a:off x="4709160" y="2144268"/>
            <a:ext cx="457200" cy="457200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70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36592" y="2171700"/>
            <a:ext cx="402336" cy="402336"/>
          </a:xfrm>
          <a:prstGeom prst="rect">
            <a:avLst/>
          </a:prstGeom>
        </p:spPr>
      </p:pic>
      <p:sp>
        <p:nvSpPr>
          <p:cNvPr id="71" name="Text 54"/>
          <p:cNvSpPr/>
          <p:nvPr/>
        </p:nvSpPr>
        <p:spPr>
          <a:xfrm>
            <a:off x="5230368" y="2089404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Mode</a:t>
            </a:r>
            <a:endParaRPr lang="en-US" sz="1100" dirty="0"/>
          </a:p>
        </p:txBody>
      </p:sp>
      <p:sp>
        <p:nvSpPr>
          <p:cNvPr id="72" name="Text 55"/>
          <p:cNvSpPr/>
          <p:nvPr/>
        </p:nvSpPr>
        <p:spPr>
          <a:xfrm>
            <a:off x="5230368" y="2382012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Screen-reader optimised</a:t>
            </a:r>
            <a:endParaRPr lang="en-US" sz="900" dirty="0"/>
          </a:p>
        </p:txBody>
      </p:sp>
      <p:sp>
        <p:nvSpPr>
          <p:cNvPr id="73" name="Shape 56"/>
          <p:cNvSpPr/>
          <p:nvPr/>
        </p:nvSpPr>
        <p:spPr>
          <a:xfrm>
            <a:off x="4617720" y="2788920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10B981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4" name="Shape 57"/>
          <p:cNvSpPr/>
          <p:nvPr/>
        </p:nvSpPr>
        <p:spPr>
          <a:xfrm>
            <a:off x="4709160" y="2907792"/>
            <a:ext cx="457200" cy="457200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75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935224"/>
            <a:ext cx="402336" cy="402336"/>
          </a:xfrm>
          <a:prstGeom prst="rect">
            <a:avLst/>
          </a:prstGeom>
        </p:spPr>
      </p:pic>
      <p:sp>
        <p:nvSpPr>
          <p:cNvPr id="76" name="Text 58"/>
          <p:cNvSpPr/>
          <p:nvPr/>
        </p:nvSpPr>
        <p:spPr>
          <a:xfrm>
            <a:off x="5230368" y="285292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Dyslexia Mode</a:t>
            </a:r>
            <a:endParaRPr lang="en-US" sz="1100" dirty="0"/>
          </a:p>
        </p:txBody>
      </p:sp>
      <p:sp>
        <p:nvSpPr>
          <p:cNvPr id="77" name="Text 59"/>
          <p:cNvSpPr/>
          <p:nvPr/>
        </p:nvSpPr>
        <p:spPr>
          <a:xfrm>
            <a:off x="5230368" y="3145536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OpenDyslexic font</a:t>
            </a:r>
            <a:endParaRPr lang="en-US" sz="900" dirty="0"/>
          </a:p>
        </p:txBody>
      </p:sp>
      <p:sp>
        <p:nvSpPr>
          <p:cNvPr id="78" name="Shape 60"/>
          <p:cNvSpPr/>
          <p:nvPr/>
        </p:nvSpPr>
        <p:spPr>
          <a:xfrm>
            <a:off x="4617720" y="3552444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10B981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9" name="Shape 61"/>
          <p:cNvSpPr/>
          <p:nvPr/>
        </p:nvSpPr>
        <p:spPr>
          <a:xfrm>
            <a:off x="4709160" y="3671316"/>
            <a:ext cx="457200" cy="457200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80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36592" y="3698748"/>
            <a:ext cx="402336" cy="402336"/>
          </a:xfrm>
          <a:prstGeom prst="rect">
            <a:avLst/>
          </a:prstGeom>
        </p:spPr>
      </p:pic>
      <p:sp>
        <p:nvSpPr>
          <p:cNvPr id="81" name="Text 62"/>
          <p:cNvSpPr/>
          <p:nvPr/>
        </p:nvSpPr>
        <p:spPr>
          <a:xfrm>
            <a:off x="5230368" y="3616452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Customiser</a:t>
            </a:r>
            <a:endParaRPr lang="en-US" sz="1100" dirty="0"/>
          </a:p>
        </p:txBody>
      </p:sp>
      <p:sp>
        <p:nvSpPr>
          <p:cNvPr id="82" name="Text 63"/>
          <p:cNvSpPr/>
          <p:nvPr/>
        </p:nvSpPr>
        <p:spPr>
          <a:xfrm>
            <a:off x="5230368" y="3909060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spacing controls</a:t>
            </a:r>
            <a:endParaRPr lang="en-US" sz="900" dirty="0"/>
          </a:p>
        </p:txBody>
      </p:sp>
      <p:sp>
        <p:nvSpPr>
          <p:cNvPr id="83" name="Shape 64"/>
          <p:cNvSpPr/>
          <p:nvPr/>
        </p:nvSpPr>
        <p:spPr>
          <a:xfrm>
            <a:off x="4617720" y="4315968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10B981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4" name="Shape 65"/>
          <p:cNvSpPr/>
          <p:nvPr/>
        </p:nvSpPr>
        <p:spPr>
          <a:xfrm>
            <a:off x="4709160" y="4434840"/>
            <a:ext cx="457200" cy="457200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85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36592" y="4462272"/>
            <a:ext cx="402336" cy="402336"/>
          </a:xfrm>
          <a:prstGeom prst="rect">
            <a:avLst/>
          </a:prstGeom>
        </p:spPr>
      </p:pic>
      <p:sp>
        <p:nvSpPr>
          <p:cNvPr id="86" name="Text 66"/>
          <p:cNvSpPr/>
          <p:nvPr/>
        </p:nvSpPr>
        <p:spPr>
          <a:xfrm>
            <a:off x="5230368" y="4379976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Contrast</a:t>
            </a:r>
            <a:endParaRPr lang="en-US" sz="1100" dirty="0"/>
          </a:p>
        </p:txBody>
      </p:sp>
      <p:sp>
        <p:nvSpPr>
          <p:cNvPr id="87" name="Text 67"/>
          <p:cNvSpPr/>
          <p:nvPr/>
        </p:nvSpPr>
        <p:spPr>
          <a:xfrm>
            <a:off x="5230368" y="4672584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vision dark theme</a:t>
            </a:r>
            <a:endParaRPr lang="en-US" sz="900" dirty="0"/>
          </a:p>
        </p:txBody>
      </p:sp>
      <p:sp>
        <p:nvSpPr>
          <p:cNvPr id="88" name="Shape 68"/>
          <p:cNvSpPr/>
          <p:nvPr/>
        </p:nvSpPr>
        <p:spPr>
          <a:xfrm>
            <a:off x="6858000" y="713232"/>
            <a:ext cx="208483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89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31152" y="768096"/>
            <a:ext cx="384048" cy="384048"/>
          </a:xfrm>
          <a:prstGeom prst="rect">
            <a:avLst/>
          </a:prstGeom>
        </p:spPr>
      </p:pic>
      <p:sp>
        <p:nvSpPr>
          <p:cNvPr id="90" name="Text 69"/>
          <p:cNvSpPr/>
          <p:nvPr/>
        </p:nvSpPr>
        <p:spPr>
          <a:xfrm>
            <a:off x="7360920" y="749808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Smart Features</a:t>
            </a:r>
            <a:endParaRPr lang="en-US" sz="1100" dirty="0"/>
          </a:p>
        </p:txBody>
      </p:sp>
      <p:sp>
        <p:nvSpPr>
          <p:cNvPr id="91" name="Shape 70"/>
          <p:cNvSpPr/>
          <p:nvPr/>
        </p:nvSpPr>
        <p:spPr>
          <a:xfrm>
            <a:off x="6858000" y="1261872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2" name="Shape 71"/>
          <p:cNvSpPr/>
          <p:nvPr/>
        </p:nvSpPr>
        <p:spPr>
          <a:xfrm>
            <a:off x="6949440" y="1380744"/>
            <a:ext cx="457200" cy="457200"/>
          </a:xfrm>
          <a:prstGeom prst="ellipse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93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76872" y="1408176"/>
            <a:ext cx="402336" cy="402336"/>
          </a:xfrm>
          <a:prstGeom prst="rect">
            <a:avLst/>
          </a:prstGeom>
        </p:spPr>
      </p:pic>
      <p:sp>
        <p:nvSpPr>
          <p:cNvPr id="94" name="Text 72"/>
          <p:cNvSpPr/>
          <p:nvPr/>
        </p:nvSpPr>
        <p:spPr>
          <a:xfrm>
            <a:off x="7470648" y="1325880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Languages</a:t>
            </a:r>
            <a:endParaRPr lang="en-US" sz="1100" dirty="0"/>
          </a:p>
        </p:txBody>
      </p:sp>
      <p:sp>
        <p:nvSpPr>
          <p:cNvPr id="95" name="Text 73"/>
          <p:cNvSpPr/>
          <p:nvPr/>
        </p:nvSpPr>
        <p:spPr>
          <a:xfrm>
            <a:off x="7470648" y="161848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switch</a:t>
            </a:r>
            <a:endParaRPr lang="en-US" sz="900" dirty="0"/>
          </a:p>
        </p:txBody>
      </p:sp>
      <p:sp>
        <p:nvSpPr>
          <p:cNvPr id="96" name="Shape 74"/>
          <p:cNvSpPr/>
          <p:nvPr/>
        </p:nvSpPr>
        <p:spPr>
          <a:xfrm>
            <a:off x="6858000" y="2025396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7" name="Shape 75"/>
          <p:cNvSpPr/>
          <p:nvPr/>
        </p:nvSpPr>
        <p:spPr>
          <a:xfrm>
            <a:off x="6949440" y="2144268"/>
            <a:ext cx="457200" cy="457200"/>
          </a:xfrm>
          <a:prstGeom prst="ellipse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98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76872" y="2171700"/>
            <a:ext cx="402336" cy="402336"/>
          </a:xfrm>
          <a:prstGeom prst="rect">
            <a:avLst/>
          </a:prstGeom>
        </p:spPr>
      </p:pic>
      <p:sp>
        <p:nvSpPr>
          <p:cNvPr id="99" name="Text 76"/>
          <p:cNvSpPr/>
          <p:nvPr/>
        </p:nvSpPr>
        <p:spPr>
          <a:xfrm>
            <a:off x="7470648" y="2089404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Upload</a:t>
            </a:r>
            <a:endParaRPr lang="en-US" sz="1100" dirty="0"/>
          </a:p>
        </p:txBody>
      </p:sp>
      <p:sp>
        <p:nvSpPr>
          <p:cNvPr id="100" name="Text 77"/>
          <p:cNvSpPr/>
          <p:nvPr/>
        </p:nvSpPr>
        <p:spPr>
          <a:xfrm>
            <a:off x="7470648" y="2382012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&amp; sets alerts</a:t>
            </a:r>
            <a:endParaRPr lang="en-US" sz="900" dirty="0"/>
          </a:p>
        </p:txBody>
      </p:sp>
      <p:sp>
        <p:nvSpPr>
          <p:cNvPr id="101" name="Shape 78"/>
          <p:cNvSpPr/>
          <p:nvPr/>
        </p:nvSpPr>
        <p:spPr>
          <a:xfrm>
            <a:off x="6858000" y="2788920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2" name="Shape 79"/>
          <p:cNvSpPr/>
          <p:nvPr/>
        </p:nvSpPr>
        <p:spPr>
          <a:xfrm>
            <a:off x="6949440" y="2907792"/>
            <a:ext cx="457200" cy="457200"/>
          </a:xfrm>
          <a:prstGeom prst="ellipse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10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76872" y="2935224"/>
            <a:ext cx="402336" cy="402336"/>
          </a:xfrm>
          <a:prstGeom prst="rect">
            <a:avLst/>
          </a:prstGeom>
        </p:spPr>
      </p:pic>
      <p:sp>
        <p:nvSpPr>
          <p:cNvPr id="104" name="Text 80"/>
          <p:cNvSpPr/>
          <p:nvPr/>
        </p:nvSpPr>
        <p:spPr>
          <a:xfrm>
            <a:off x="7470648" y="285292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Reminders</a:t>
            </a:r>
            <a:endParaRPr lang="en-US" sz="1100" dirty="0"/>
          </a:p>
        </p:txBody>
      </p:sp>
      <p:sp>
        <p:nvSpPr>
          <p:cNvPr id="105" name="Text 81"/>
          <p:cNvSpPr/>
          <p:nvPr/>
        </p:nvSpPr>
        <p:spPr>
          <a:xfrm>
            <a:off x="7470648" y="3145536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emails via EmailJS</a:t>
            </a:r>
            <a:endParaRPr lang="en-US" sz="900" dirty="0"/>
          </a:p>
        </p:txBody>
      </p:sp>
      <p:sp>
        <p:nvSpPr>
          <p:cNvPr id="106" name="Shape 82"/>
          <p:cNvSpPr/>
          <p:nvPr/>
        </p:nvSpPr>
        <p:spPr>
          <a:xfrm>
            <a:off x="6858000" y="3552444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7" name="Shape 83"/>
          <p:cNvSpPr/>
          <p:nvPr/>
        </p:nvSpPr>
        <p:spPr>
          <a:xfrm>
            <a:off x="6949440" y="3671316"/>
            <a:ext cx="457200" cy="457200"/>
          </a:xfrm>
          <a:prstGeom prst="ellipse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108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76872" y="3698748"/>
            <a:ext cx="402336" cy="402336"/>
          </a:xfrm>
          <a:prstGeom prst="rect">
            <a:avLst/>
          </a:prstGeom>
        </p:spPr>
      </p:pic>
      <p:sp>
        <p:nvSpPr>
          <p:cNvPr id="109" name="Text 84"/>
          <p:cNvSpPr/>
          <p:nvPr/>
        </p:nvSpPr>
        <p:spPr>
          <a:xfrm>
            <a:off x="7470648" y="3616452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Tracker</a:t>
            </a:r>
            <a:endParaRPr lang="en-US" sz="1100" dirty="0"/>
          </a:p>
        </p:txBody>
      </p:sp>
      <p:sp>
        <p:nvSpPr>
          <p:cNvPr id="110" name="Text 85"/>
          <p:cNvSpPr/>
          <p:nvPr/>
        </p:nvSpPr>
        <p:spPr>
          <a:xfrm>
            <a:off x="7470648" y="3909060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 &amp; weak topics</a:t>
            </a:r>
            <a:endParaRPr lang="en-US" sz="900" dirty="0"/>
          </a:p>
        </p:txBody>
      </p:sp>
      <p:sp>
        <p:nvSpPr>
          <p:cNvPr id="111" name="Shape 86"/>
          <p:cNvSpPr/>
          <p:nvPr/>
        </p:nvSpPr>
        <p:spPr>
          <a:xfrm>
            <a:off x="6858000" y="4315968"/>
            <a:ext cx="2084832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2" name="Shape 87"/>
          <p:cNvSpPr/>
          <p:nvPr/>
        </p:nvSpPr>
        <p:spPr>
          <a:xfrm>
            <a:off x="6949440" y="4434840"/>
            <a:ext cx="457200" cy="457200"/>
          </a:xfrm>
          <a:prstGeom prst="ellipse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113" name="Image 2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6872" y="4462272"/>
            <a:ext cx="402336" cy="402336"/>
          </a:xfrm>
          <a:prstGeom prst="rect">
            <a:avLst/>
          </a:prstGeom>
        </p:spPr>
      </p:pic>
      <p:sp>
        <p:nvSpPr>
          <p:cNvPr id="114" name="Text 88"/>
          <p:cNvSpPr/>
          <p:nvPr/>
        </p:nvSpPr>
        <p:spPr>
          <a:xfrm>
            <a:off x="7470648" y="4379976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</a:t>
            </a:r>
            <a:endParaRPr lang="en-US" sz="1100" dirty="0"/>
          </a:p>
        </p:txBody>
      </p:sp>
      <p:sp>
        <p:nvSpPr>
          <p:cNvPr id="115" name="Text 89"/>
          <p:cNvSpPr/>
          <p:nvPr/>
        </p:nvSpPr>
        <p:spPr>
          <a:xfrm>
            <a:off x="7470648" y="4672584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SM-2 algorithm engine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SARA AI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student. One voice. Infinite learning.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88720" cy="118872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228600" dist="50800" dir="8100000" algn="bl" rotWithShape="0">
              <a:srgbClr val="3B82F6">
                <a:alpha val="3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24128"/>
            <a:ext cx="969264" cy="9692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54480" y="960120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54480" y="960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755648" y="1536192"/>
            <a:ext cx="27432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1800000">
            <a:off x="1975104" y="1481328"/>
            <a:ext cx="9144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2494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25420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or types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0" y="960120"/>
            <a:ext cx="1188720" cy="118872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  <a:effectLst>
            <a:outerShdw blurRad="228600" dist="50800" dir="8100000" algn="bl" rotWithShape="0">
              <a:srgbClr val="8B5CF6">
                <a:alpha val="35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1024128"/>
            <a:ext cx="969264" cy="9692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291840" y="960120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91840" y="960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493008" y="1536192"/>
            <a:ext cx="27432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 rot="1800000">
            <a:off x="3712464" y="1481328"/>
            <a:ext cx="9144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103120" y="22494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AI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103120" y="25420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API keys process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023360" y="960120"/>
            <a:ext cx="1188720" cy="118872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228600" dist="50800" dir="8100000" algn="bl" rotWithShape="0">
              <a:srgbClr val="10B981">
                <a:alpha val="35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088" y="1024128"/>
            <a:ext cx="969264" cy="96926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029200" y="960120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029200" y="960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230368" y="1536192"/>
            <a:ext cx="27432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 rot="1800000">
            <a:off x="5449824" y="1481328"/>
            <a:ext cx="9144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840480" y="22494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SARA Acts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3840480" y="25420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/ Plans / Quizzes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760720" y="960120"/>
            <a:ext cx="1188720" cy="11887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228600" dist="50800" dir="8100000" algn="bl" rotWithShape="0">
              <a:srgbClr val="F59E0B">
                <a:alpha val="35000"/>
              </a:srgbClr>
            </a:outerShdw>
          </a:effectLst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1024128"/>
            <a:ext cx="969264" cy="969264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766560" y="96012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766560" y="960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967728" y="1536192"/>
            <a:ext cx="27432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 rot="1800000">
            <a:off x="7187184" y="1481328"/>
            <a:ext cx="9144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577840" y="22494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Reads Aloud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5577840" y="25420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chosen language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7498080" y="960120"/>
            <a:ext cx="1188720" cy="1188720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  <a:effectLst>
            <a:outerShdw blurRad="228600" dist="50800" dir="8100000" algn="bl" rotWithShape="0">
              <a:srgbClr val="EC4899">
                <a:alpha val="35000"/>
              </a:srgbClr>
            </a:outerShdw>
          </a:effectLst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7808" y="1024128"/>
            <a:ext cx="969264" cy="969264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8503920" y="960120"/>
            <a:ext cx="292608" cy="29260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8503920" y="960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7315200" y="22494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Adapts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7315200" y="25420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&amp; improves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274320" y="2962656"/>
            <a:ext cx="859536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ARCHITECTURE — 40 Requests / Minute (4 Independent Keys)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3886200" y="3401568"/>
            <a:ext cx="1371600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3493008"/>
            <a:ext cx="877824" cy="877824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3886200" y="4343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47" name="Shape 39"/>
          <p:cNvSpPr/>
          <p:nvPr/>
        </p:nvSpPr>
        <p:spPr>
          <a:xfrm>
            <a:off x="182880" y="3364992"/>
            <a:ext cx="18288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>
                <a:alpha val="5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182880" y="3364992"/>
            <a:ext cx="18288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182880" y="34198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1</a:t>
            </a:r>
            <a:endParaRPr lang="en-US" sz="1300" dirty="0"/>
          </a:p>
        </p:txBody>
      </p:sp>
      <p:sp>
        <p:nvSpPr>
          <p:cNvPr id="50" name="Text 42"/>
          <p:cNvSpPr/>
          <p:nvPr/>
        </p:nvSpPr>
        <p:spPr>
          <a:xfrm>
            <a:off x="18288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Teacher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Coach</a:t>
            </a:r>
            <a:endParaRPr lang="en-US" sz="850" dirty="0"/>
          </a:p>
        </p:txBody>
      </p:sp>
      <p:sp>
        <p:nvSpPr>
          <p:cNvPr id="51" name="Shape 43"/>
          <p:cNvSpPr/>
          <p:nvPr/>
        </p:nvSpPr>
        <p:spPr>
          <a:xfrm>
            <a:off x="2011680" y="3721608"/>
            <a:ext cx="1874520" cy="9144"/>
          </a:xfrm>
          <a:prstGeom prst="line">
            <a:avLst/>
          </a:prstGeom>
          <a:noFill/>
          <a:ln w="1905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2103120" y="4187952"/>
            <a:ext cx="18288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8B5CF6">
                <a:alpha val="5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3" name="Shape 45"/>
          <p:cNvSpPr/>
          <p:nvPr/>
        </p:nvSpPr>
        <p:spPr>
          <a:xfrm>
            <a:off x="2103120" y="4187952"/>
            <a:ext cx="18288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2103120" y="42428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2</a:t>
            </a:r>
            <a:endParaRPr lang="en-US" sz="1300" dirty="0"/>
          </a:p>
        </p:txBody>
      </p:sp>
      <p:sp>
        <p:nvSpPr>
          <p:cNvPr id="55" name="Text 47"/>
          <p:cNvSpPr/>
          <p:nvPr/>
        </p:nvSpPr>
        <p:spPr>
          <a:xfrm>
            <a:off x="210312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Quiz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Generator</a:t>
            </a:r>
            <a:endParaRPr lang="en-US" sz="850" dirty="0"/>
          </a:p>
        </p:txBody>
      </p:sp>
      <p:sp>
        <p:nvSpPr>
          <p:cNvPr id="56" name="Shape 48"/>
          <p:cNvSpPr/>
          <p:nvPr/>
        </p:nvSpPr>
        <p:spPr>
          <a:xfrm>
            <a:off x="3886200" y="4544568"/>
            <a:ext cx="45720" cy="9144"/>
          </a:xfrm>
          <a:prstGeom prst="line">
            <a:avLst/>
          </a:prstGeom>
          <a:noFill/>
          <a:ln w="1905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6126480" y="3364992"/>
            <a:ext cx="18288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10B981">
                <a:alpha val="5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8" name="Shape 50"/>
          <p:cNvSpPr/>
          <p:nvPr/>
        </p:nvSpPr>
        <p:spPr>
          <a:xfrm>
            <a:off x="6126480" y="3364992"/>
            <a:ext cx="18288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6126480" y="34198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3</a:t>
            </a:r>
            <a:endParaRPr lang="en-US" sz="1300" dirty="0"/>
          </a:p>
        </p:txBody>
      </p:sp>
      <p:sp>
        <p:nvSpPr>
          <p:cNvPr id="60" name="Text 52"/>
          <p:cNvSpPr/>
          <p:nvPr/>
        </p:nvSpPr>
        <p:spPr>
          <a:xfrm>
            <a:off x="612648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 Solver</a:t>
            </a:r>
            <a:endParaRPr lang="en-US" sz="850" dirty="0"/>
          </a:p>
        </p:txBody>
      </p:sp>
      <p:sp>
        <p:nvSpPr>
          <p:cNvPr id="61" name="Shape 53"/>
          <p:cNvSpPr/>
          <p:nvPr/>
        </p:nvSpPr>
        <p:spPr>
          <a:xfrm>
            <a:off x="5257800" y="3721608"/>
            <a:ext cx="868680" cy="9144"/>
          </a:xfrm>
          <a:prstGeom prst="line">
            <a:avLst/>
          </a:prstGeom>
          <a:noFill/>
          <a:ln w="1905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7315200" y="4187952"/>
            <a:ext cx="18288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>
                <a:alpha val="5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3" name="Shape 55"/>
          <p:cNvSpPr/>
          <p:nvPr/>
        </p:nvSpPr>
        <p:spPr>
          <a:xfrm>
            <a:off x="7315200" y="4187952"/>
            <a:ext cx="1828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56"/>
          <p:cNvSpPr/>
          <p:nvPr/>
        </p:nvSpPr>
        <p:spPr>
          <a:xfrm>
            <a:off x="7315200" y="42428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4</a:t>
            </a:r>
            <a:endParaRPr lang="en-US" sz="1300" dirty="0"/>
          </a:p>
        </p:txBody>
      </p:sp>
      <p:sp>
        <p:nvSpPr>
          <p:cNvPr id="65" name="Text 57"/>
          <p:cNvSpPr/>
          <p:nvPr/>
        </p:nvSpPr>
        <p:spPr>
          <a:xfrm>
            <a:off x="731520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Planner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850" dirty="0"/>
          </a:p>
        </p:txBody>
      </p:sp>
      <p:sp>
        <p:nvSpPr>
          <p:cNvPr id="66" name="Shape 58"/>
          <p:cNvSpPr/>
          <p:nvPr/>
        </p:nvSpPr>
        <p:spPr>
          <a:xfrm>
            <a:off x="5257800" y="4544568"/>
            <a:ext cx="2057400" cy="9144"/>
          </a:xfrm>
          <a:prstGeom prst="line">
            <a:avLst/>
          </a:prstGeom>
          <a:noFill/>
          <a:ln w="19050">
            <a:solidFill>
              <a:srgbClr val="F59E0B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4572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VOICE CONTROL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38404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SARA works 100% by voice — no sight required.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82880" y="822960"/>
            <a:ext cx="4114800" cy="41605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" y="822960"/>
            <a:ext cx="41148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877824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" y="8503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8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 COMMANDS  (30+)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28600" y="1252728"/>
            <a:ext cx="4023360" cy="347472"/>
          </a:xfrm>
          <a:prstGeom prst="rect">
            <a:avLst/>
          </a:prstGeom>
          <a:solidFill>
            <a:srgbClr val="0D1E35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2608" y="128930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"teach me photosynthesis"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2304288" y="129844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Opens AI Teacher &amp; teaches topic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28600" y="1613916"/>
            <a:ext cx="4023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2608" y="16504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"generate quiz on history"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304288" y="165963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Instantly creates 10-question quiz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28600" y="1975104"/>
            <a:ext cx="4023360" cy="347472"/>
          </a:xfrm>
          <a:prstGeom prst="rect">
            <a:avLst/>
          </a:prstGeom>
          <a:solidFill>
            <a:srgbClr val="0D1E35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92608" y="2011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"flashcards on trigonometry"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304288" y="202082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Creates flip-card revision set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28600" y="2336292"/>
            <a:ext cx="4023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92608" y="23728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"answer B"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2304288" y="23820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Selects quiz option — no keyboard!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28600" y="2697480"/>
            <a:ext cx="4023360" cy="347472"/>
          </a:xfrm>
          <a:prstGeom prst="rect">
            <a:avLst/>
          </a:prstGeom>
          <a:solidFill>
            <a:srgbClr val="0D1E35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92608" y="273405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"read question"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2304288" y="2743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Re-reads current question aloud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228600" y="3058668"/>
            <a:ext cx="4023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92608" y="309524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my score?"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2304288" y="31043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Reads progress stats aloud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228600" y="3419856"/>
            <a:ext cx="4023360" cy="347472"/>
          </a:xfrm>
          <a:prstGeom prst="rect">
            <a:avLst/>
          </a:prstGeom>
          <a:solidFill>
            <a:srgbClr val="0D1E35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92608" y="34564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"change language to Hindi"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2304288" y="346557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Switches entire app to Hindi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228600" y="3781044"/>
            <a:ext cx="4023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92608" y="38176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"set reminder for Maths exam"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2304288" y="382676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Creates exam reminder by voice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228600" y="4142232"/>
            <a:ext cx="4023360" cy="347472"/>
          </a:xfrm>
          <a:prstGeom prst="rect">
            <a:avLst/>
          </a:prstGeom>
          <a:solidFill>
            <a:srgbClr val="0D1E35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92608" y="41788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"motivate me"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2304288" y="418795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Opens Motivational Coach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228600" y="4503420"/>
            <a:ext cx="4023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292608" y="453999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"ask doubt: explain gravity"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2304288" y="45491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Opens Doubt Solver with question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480560" y="822960"/>
            <a:ext cx="4480560" cy="41605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4480560" y="822960"/>
            <a:ext cx="448056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877824"/>
            <a:ext cx="292608" cy="29260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4919472" y="8503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ACCESSIBILITY MODES</a:t>
            </a:r>
            <a:endParaRPr lang="en-US" sz="1300" dirty="0"/>
          </a:p>
        </p:txBody>
      </p:sp>
      <p:sp>
        <p:nvSpPr>
          <p:cNvPr id="44" name="Shape 39"/>
          <p:cNvSpPr/>
          <p:nvPr/>
        </p:nvSpPr>
        <p:spPr>
          <a:xfrm>
            <a:off x="4572000" y="1280160"/>
            <a:ext cx="429768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4663440" y="1389888"/>
            <a:ext cx="438912" cy="438912"/>
          </a:xfrm>
          <a:prstGeom prst="ellipse">
            <a:avLst/>
          </a:prstGeom>
          <a:solidFill>
            <a:srgbClr val="3B82F6">
              <a:alpha val="28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1417320"/>
            <a:ext cx="384048" cy="384048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5193792" y="13167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Mode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5193792" y="15727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22px font, wide line spacing 2.2,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word spacing — optimised for low vision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4572000" y="2011680"/>
            <a:ext cx="429768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4663440" y="2121408"/>
            <a:ext cx="438912" cy="438912"/>
          </a:xfrm>
          <a:prstGeom prst="ellipse">
            <a:avLst/>
          </a:prstGeom>
          <a:solidFill>
            <a:srgbClr val="8B5CF6">
              <a:alpha val="28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872" y="2148840"/>
            <a:ext cx="384048" cy="38404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5193792" y="20482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Dyslexia Mode</a:t>
            </a:r>
            <a:endParaRPr lang="en-US" sz="1200" dirty="0"/>
          </a:p>
        </p:txBody>
      </p:sp>
      <p:sp>
        <p:nvSpPr>
          <p:cNvPr id="53" name="Text 46"/>
          <p:cNvSpPr/>
          <p:nvPr/>
        </p:nvSpPr>
        <p:spPr>
          <a:xfrm>
            <a:off x="5193792" y="23042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OpenDyslexic font, 18px, line 2.0, letter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1.5 — proven to aid reading difficulty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4572000" y="2743200"/>
            <a:ext cx="429768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4663440" y="2852928"/>
            <a:ext cx="438912" cy="438912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2880360"/>
            <a:ext cx="384048" cy="384048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5193792" y="27797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Read Aloud</a:t>
            </a:r>
            <a:endParaRPr lang="en-US" sz="1200" dirty="0"/>
          </a:p>
        </p:txBody>
      </p:sp>
      <p:sp>
        <p:nvSpPr>
          <p:cNvPr id="58" name="Text 50"/>
          <p:cNvSpPr/>
          <p:nvPr/>
        </p:nvSpPr>
        <p:spPr>
          <a:xfrm>
            <a:off x="5193792" y="30358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heading, paragraph and result 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read in the student's language</a:t>
            </a:r>
            <a:endParaRPr lang="en-US" sz="900" dirty="0"/>
          </a:p>
        </p:txBody>
      </p:sp>
      <p:sp>
        <p:nvSpPr>
          <p:cNvPr id="59" name="Shape 51"/>
          <p:cNvSpPr/>
          <p:nvPr/>
        </p:nvSpPr>
        <p:spPr>
          <a:xfrm>
            <a:off x="4572000" y="3474720"/>
            <a:ext cx="429768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4663440" y="3584448"/>
            <a:ext cx="438912" cy="438912"/>
          </a:xfrm>
          <a:prstGeom prst="ellipse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6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0872" y="3611880"/>
            <a:ext cx="384048" cy="384048"/>
          </a:xfrm>
          <a:prstGeom prst="rect">
            <a:avLst/>
          </a:prstGeom>
        </p:spPr>
      </p:pic>
      <p:sp>
        <p:nvSpPr>
          <p:cNvPr id="62" name="Text 53"/>
          <p:cNvSpPr/>
          <p:nvPr/>
        </p:nvSpPr>
        <p:spPr>
          <a:xfrm>
            <a:off x="5193792" y="35112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Customiser</a:t>
            </a:r>
            <a:endParaRPr lang="en-US" sz="1200" dirty="0"/>
          </a:p>
        </p:txBody>
      </p:sp>
      <p:sp>
        <p:nvSpPr>
          <p:cNvPr id="63" name="Text 54"/>
          <p:cNvSpPr/>
          <p:nvPr/>
        </p:nvSpPr>
        <p:spPr>
          <a:xfrm>
            <a:off x="5193792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family, size (12–28px), line, letter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word spacing — all saved across sessions</a:t>
            </a:r>
            <a:endParaRPr lang="en-US" sz="900" dirty="0"/>
          </a:p>
        </p:txBody>
      </p:sp>
      <p:sp>
        <p:nvSpPr>
          <p:cNvPr id="64" name="Shape 55"/>
          <p:cNvSpPr/>
          <p:nvPr/>
        </p:nvSpPr>
        <p:spPr>
          <a:xfrm>
            <a:off x="4572000" y="4206240"/>
            <a:ext cx="429768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65" name="Shape 56"/>
          <p:cNvSpPr/>
          <p:nvPr/>
        </p:nvSpPr>
        <p:spPr>
          <a:xfrm>
            <a:off x="4663440" y="4315968"/>
            <a:ext cx="438912" cy="438912"/>
          </a:xfrm>
          <a:prstGeom prst="ellipse">
            <a:avLst/>
          </a:prstGeom>
          <a:solidFill>
            <a:srgbClr val="06B6D4">
              <a:alpha val="28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pic>
        <p:nvPicPr>
          <p:cNvPr id="6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0872" y="4343400"/>
            <a:ext cx="384048" cy="384048"/>
          </a:xfrm>
          <a:prstGeom prst="rect">
            <a:avLst/>
          </a:prstGeom>
        </p:spPr>
      </p:pic>
      <p:sp>
        <p:nvSpPr>
          <p:cNvPr id="67" name="Text 57"/>
          <p:cNvSpPr/>
          <p:nvPr/>
        </p:nvSpPr>
        <p:spPr>
          <a:xfrm>
            <a:off x="5193792" y="42428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Language UI</a:t>
            </a:r>
            <a:endParaRPr lang="en-US" sz="1200" dirty="0"/>
          </a:p>
        </p:txBody>
      </p:sp>
      <p:sp>
        <p:nvSpPr>
          <p:cNvPr id="68" name="Text 58"/>
          <p:cNvSpPr/>
          <p:nvPr/>
        </p:nvSpPr>
        <p:spPr>
          <a:xfrm>
            <a:off x="5193792" y="44988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recognition and AI responses all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together — Hindi, Tamil, Telugu &amp; more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7315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WHY SARA AI MATTERS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47548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project. One mission. Millions of students.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82880" y="1188720"/>
            <a:ext cx="1572768" cy="1417320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>
                <a:alpha val="5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" y="1188720"/>
            <a:ext cx="157276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261872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" y="1700784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253M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182880" y="22128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People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1947672" y="1188720"/>
            <a:ext cx="1572768" cy="1417320"/>
          </a:xfrm>
          <a:prstGeom prst="rect">
            <a:avLst/>
          </a:prstGeom>
          <a:solidFill>
            <a:srgbClr val="0F1F3D"/>
          </a:solidFill>
          <a:ln w="12700">
            <a:solidFill>
              <a:srgbClr val="8B5CF6">
                <a:alpha val="5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947672" y="1188720"/>
            <a:ext cx="1572768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12618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47672" y="1700784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20+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1947672" y="22128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712464" y="1188720"/>
            <a:ext cx="1572768" cy="1417320"/>
          </a:xfrm>
          <a:prstGeom prst="rect">
            <a:avLst/>
          </a:prstGeom>
          <a:solidFill>
            <a:srgbClr val="0F1F3D"/>
          </a:solidFill>
          <a:ln w="12700">
            <a:solidFill>
              <a:srgbClr val="10B981">
                <a:alpha val="5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712464" y="1188720"/>
            <a:ext cx="157276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2" y="1261872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712464" y="1700784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</a:t>
            </a:r>
            <a:endParaRPr lang="en-US" sz="3400" dirty="0"/>
          </a:p>
        </p:txBody>
      </p:sp>
      <p:sp>
        <p:nvSpPr>
          <p:cNvPr id="20" name="Text 14"/>
          <p:cNvSpPr/>
          <p:nvPr/>
        </p:nvSpPr>
        <p:spPr>
          <a:xfrm>
            <a:off x="3712464" y="22128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5477256" y="1188720"/>
            <a:ext cx="1572768" cy="1417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6B6D4">
                <a:alpha val="5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477256" y="1188720"/>
            <a:ext cx="1572768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4184" y="1261872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77256" y="1700784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400" dirty="0"/>
          </a:p>
        </p:txBody>
      </p:sp>
      <p:sp>
        <p:nvSpPr>
          <p:cNvPr id="25" name="Text 18"/>
          <p:cNvSpPr/>
          <p:nvPr/>
        </p:nvSpPr>
        <p:spPr>
          <a:xfrm>
            <a:off x="5477256" y="22128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7242048" y="1188720"/>
            <a:ext cx="1572768" cy="1417320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>
                <a:alpha val="5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242048" y="1188720"/>
            <a:ext cx="15727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8976" y="1261872"/>
            <a:ext cx="438912" cy="43891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242048" y="1700784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400" dirty="0"/>
          </a:p>
        </p:txBody>
      </p:sp>
      <p:sp>
        <p:nvSpPr>
          <p:cNvPr id="30" name="Text 22"/>
          <p:cNvSpPr/>
          <p:nvPr/>
        </p:nvSpPr>
        <p:spPr>
          <a:xfrm>
            <a:off x="7242048" y="22128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—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Rate Limit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182880" y="2743200"/>
            <a:ext cx="877824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182880" y="2852928"/>
            <a:ext cx="42519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182880" y="2852928"/>
            <a:ext cx="42519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274320" y="3054096"/>
            <a:ext cx="548640" cy="548640"/>
          </a:xfrm>
          <a:prstGeom prst="ellipse">
            <a:avLst/>
          </a:prstGeom>
          <a:solidFill>
            <a:srgbClr val="3B82F6">
              <a:alpha val="28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752" y="3081528"/>
            <a:ext cx="493776" cy="49377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32688" y="29443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Need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932688" y="32461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 million visually impaired people lack accessible AI study tools. SARA fills that gap.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4709160" y="2852928"/>
            <a:ext cx="42519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EC4899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4709160" y="2852928"/>
            <a:ext cx="425196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800600" y="3054096"/>
            <a:ext cx="548640" cy="548640"/>
          </a:xfrm>
          <a:prstGeom prst="ellipse">
            <a:avLst/>
          </a:prstGeom>
          <a:solidFill>
            <a:srgbClr val="EC4899">
              <a:alpha val="28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8032" y="3081528"/>
            <a:ext cx="493776" cy="49377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458968" y="29443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5458968" y="32461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subscriptions, no downloads, no server setup. Open any browser and start learning.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182880" y="3931920"/>
            <a:ext cx="42519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182880" y="3931920"/>
            <a:ext cx="4251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274320" y="4133088"/>
            <a:ext cx="548640" cy="548640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752" y="4160520"/>
            <a:ext cx="493776" cy="49377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932688" y="4023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by Design</a:t>
            </a:r>
            <a:endParaRPr lang="en-US" sz="1400" dirty="0"/>
          </a:p>
        </p:txBody>
      </p:sp>
      <p:sp>
        <p:nvSpPr>
          <p:cNvPr id="49" name="Text 38"/>
          <p:cNvSpPr/>
          <p:nvPr/>
        </p:nvSpPr>
        <p:spPr>
          <a:xfrm>
            <a:off x="932688" y="432511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feature works by voice alone. Built from the ground up for VI students.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4709160" y="3931920"/>
            <a:ext cx="42519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4709160" y="3931920"/>
            <a:ext cx="4251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4800600" y="4133088"/>
            <a:ext cx="548640" cy="548640"/>
          </a:xfrm>
          <a:prstGeom prst="ellipse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8032" y="4160520"/>
            <a:ext cx="493776" cy="493776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5458968" y="4023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Ready</a:t>
            </a:r>
            <a:endParaRPr lang="en-US" sz="1400" dirty="0"/>
          </a:p>
        </p:txBody>
      </p:sp>
      <p:sp>
        <p:nvSpPr>
          <p:cNvPr id="55" name="Text 43"/>
          <p:cNvSpPr/>
          <p:nvPr/>
        </p:nvSpPr>
        <p:spPr>
          <a:xfrm>
            <a:off x="5458968" y="432511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all K-12 grades, CBSE/ICSE/State boards, in 8 languages, anywhere in the world.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9728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82880" y="1097280"/>
            <a:ext cx="4206240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" y="1097280"/>
            <a:ext cx="64008" cy="6949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1225296"/>
            <a:ext cx="438912" cy="438912"/>
          </a:xfrm>
          <a:prstGeom prst="ellipse">
            <a:avLst/>
          </a:prstGeom>
          <a:solidFill>
            <a:srgbClr val="3B82F6">
              <a:alpha val="28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25272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1248" y="114300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Vanilla JS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41248" y="1426464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self-contained file. No frameworks,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step, runs on any browser anywhere.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182880" y="1865376"/>
            <a:ext cx="4206240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82880" y="1865376"/>
            <a:ext cx="64008" cy="6949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0040" y="1993392"/>
            <a:ext cx="438912" cy="438912"/>
          </a:xfrm>
          <a:prstGeom prst="ellipse">
            <a:avLst/>
          </a:prstGeom>
          <a:solidFill>
            <a:srgbClr val="8B5CF6">
              <a:alpha val="28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20824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" y="191109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41248" y="2194560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best model: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 → 2.0-flash → 1.5-flash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182880" y="2633472"/>
            <a:ext cx="4206240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82880" y="2633472"/>
            <a:ext cx="64008" cy="6949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20040" y="2761488"/>
            <a:ext cx="438912" cy="438912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78892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267919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41248" y="296265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Browser-native voice recognition &amp;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— zero third-party dependencies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182880" y="3401568"/>
            <a:ext cx="4206240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EC4899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82880" y="3401568"/>
            <a:ext cx="64008" cy="69494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0040" y="3529584"/>
            <a:ext cx="438912" cy="438912"/>
          </a:xfrm>
          <a:prstGeom prst="ellipse">
            <a:avLst/>
          </a:prstGeom>
          <a:solidFill>
            <a:srgbClr val="EC4899">
              <a:alpha val="28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557016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41248" y="344728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EmailJS SDK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41248" y="373075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emails direct from browser 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or SMTP configuration needed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182880" y="4169664"/>
            <a:ext cx="4206240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182880" y="4169664"/>
            <a:ext cx="64008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20040" y="4297680"/>
            <a:ext cx="438912" cy="438912"/>
          </a:xfrm>
          <a:prstGeom prst="ellipse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432511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1248" y="421538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Strategy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841248" y="449884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keys across 4 Google projects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combined requests/min, zero throttling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4663440" y="777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INNOVATIONS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4572000" y="1097280"/>
            <a:ext cx="4389120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4572000" y="1097280"/>
            <a:ext cx="64008" cy="6949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4709160" y="1225296"/>
            <a:ext cx="438912" cy="438912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1252728"/>
            <a:ext cx="384048" cy="38404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230368" y="11430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JSON Parser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5230368" y="1426464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array &amp; object parsers handle incomplete AI responses — never crashes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4572000" y="1865376"/>
            <a:ext cx="4389120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4572000" y="1865376"/>
            <a:ext cx="64008" cy="6949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4709160" y="1993392"/>
            <a:ext cx="438912" cy="438912"/>
          </a:xfrm>
          <a:prstGeom prst="ellipse">
            <a:avLst/>
          </a:prstGeom>
          <a:solidFill>
            <a:srgbClr val="3B82F6">
              <a:alpha val="28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020824"/>
            <a:ext cx="384048" cy="38404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5230368" y="191109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Model Detection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5230368" y="2194560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gemini-2.5 → 2.0 → 1.5; always picks fastest available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4572000" y="2633472"/>
            <a:ext cx="4389120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4572000" y="2633472"/>
            <a:ext cx="64008" cy="6949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4709160" y="2761488"/>
            <a:ext cx="438912" cy="438912"/>
          </a:xfrm>
          <a:prstGeom prst="ellipse">
            <a:avLst/>
          </a:prstGeom>
          <a:solidFill>
            <a:srgbClr val="8B5CF6">
              <a:alpha val="28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6592" y="2788920"/>
            <a:ext cx="384048" cy="384048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5230368" y="26791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</a:t>
            </a:r>
            <a:endParaRPr lang="en-US" sz="1200" dirty="0"/>
          </a:p>
        </p:txBody>
      </p:sp>
      <p:sp>
        <p:nvSpPr>
          <p:cNvPr id="54" name="Text 43"/>
          <p:cNvSpPr/>
          <p:nvPr/>
        </p:nvSpPr>
        <p:spPr>
          <a:xfrm>
            <a:off x="5230368" y="296265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SM-2 algorithm schedules flashcard reviews at optimal memory intervals</a:t>
            </a:r>
            <a:endParaRPr lang="en-US" sz="900" dirty="0"/>
          </a:p>
        </p:txBody>
      </p:sp>
      <p:sp>
        <p:nvSpPr>
          <p:cNvPr id="55" name="Shape 44"/>
          <p:cNvSpPr/>
          <p:nvPr/>
        </p:nvSpPr>
        <p:spPr>
          <a:xfrm>
            <a:off x="4572000" y="3401568"/>
            <a:ext cx="4389120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Shape 45"/>
          <p:cNvSpPr/>
          <p:nvPr/>
        </p:nvSpPr>
        <p:spPr>
          <a:xfrm>
            <a:off x="4572000" y="3401568"/>
            <a:ext cx="64008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4709160" y="3529584"/>
            <a:ext cx="438912" cy="438912"/>
          </a:xfrm>
          <a:prstGeom prst="ellipse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5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592" y="3557016"/>
            <a:ext cx="384048" cy="384048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5230368" y="344728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Timetable</a:t>
            </a:r>
            <a:endParaRPr lang="en-US" sz="1200" dirty="0"/>
          </a:p>
        </p:txBody>
      </p:sp>
      <p:sp>
        <p:nvSpPr>
          <p:cNvPr id="60" name="Text 48"/>
          <p:cNvSpPr/>
          <p:nvPr/>
        </p:nvSpPr>
        <p:spPr>
          <a:xfrm>
            <a:off x="5230368" y="3730752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reads handwritten timetable photos &amp; extracts all exam dates</a:t>
            </a:r>
            <a:endParaRPr lang="en-US" sz="900" dirty="0"/>
          </a:p>
        </p:txBody>
      </p:sp>
      <p:sp>
        <p:nvSpPr>
          <p:cNvPr id="61" name="Shape 49"/>
          <p:cNvSpPr/>
          <p:nvPr/>
        </p:nvSpPr>
        <p:spPr>
          <a:xfrm>
            <a:off x="4572000" y="4169664"/>
            <a:ext cx="4389120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EC4899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2" name="Shape 50"/>
          <p:cNvSpPr/>
          <p:nvPr/>
        </p:nvSpPr>
        <p:spPr>
          <a:xfrm>
            <a:off x="4572000" y="4169664"/>
            <a:ext cx="64008" cy="69494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4709160" y="4297680"/>
            <a:ext cx="438912" cy="438912"/>
          </a:xfrm>
          <a:prstGeom prst="ellipse">
            <a:avLst/>
          </a:prstGeom>
          <a:solidFill>
            <a:srgbClr val="EC4899">
              <a:alpha val="28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64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6592" y="4325112"/>
            <a:ext cx="384048" cy="384048"/>
          </a:xfrm>
          <a:prstGeom prst="rect">
            <a:avLst/>
          </a:prstGeom>
        </p:spPr>
      </p:pic>
      <p:sp>
        <p:nvSpPr>
          <p:cNvPr id="65" name="Text 52"/>
          <p:cNvSpPr/>
          <p:nvPr/>
        </p:nvSpPr>
        <p:spPr>
          <a:xfrm>
            <a:off x="5230368" y="421538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Recognition</a:t>
            </a:r>
            <a:endParaRPr lang="en-US" sz="1200" dirty="0"/>
          </a:p>
        </p:txBody>
      </p:sp>
      <p:sp>
        <p:nvSpPr>
          <p:cNvPr id="66" name="Text 53"/>
          <p:cNvSpPr/>
          <p:nvPr/>
        </p:nvSpPr>
        <p:spPr>
          <a:xfrm>
            <a:off x="5230368" y="4498848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creator's name → greets as 'Sir' with gold crown badge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48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— SARA'S BRAIN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402336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SARA doesn't just answer — it thinks, plans and acts for you.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74320" y="8778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AGENTIC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82880" y="1188720"/>
            <a:ext cx="4206240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1188720"/>
            <a:ext cx="64008" cy="6949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1316736"/>
            <a:ext cx="438912" cy="438912"/>
          </a:xfrm>
          <a:prstGeom prst="ellipse">
            <a:avLst/>
          </a:prstGeom>
          <a:solidFill>
            <a:srgbClr val="3B82F6">
              <a:alpha val="28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34416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123444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Your History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41248" y="1517904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quiz attempt, score and topic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understand exactly where you struggle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82880" y="1956816"/>
            <a:ext cx="4206240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82880" y="1956816"/>
            <a:ext cx="64008" cy="6949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0040" y="2084832"/>
            <a:ext cx="438912" cy="438912"/>
          </a:xfrm>
          <a:prstGeom prst="ellipse">
            <a:avLst/>
          </a:prstGeom>
          <a:solidFill>
            <a:srgbClr val="8B5CF6">
              <a:alpha val="28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11226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" y="200253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Study Plan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41248" y="2286000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personalised day-by-day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prioritising your weakest areas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880" y="2724912"/>
            <a:ext cx="4206240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EF4444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82880" y="2724912"/>
            <a:ext cx="64008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20040" y="2852928"/>
            <a:ext cx="438912" cy="438912"/>
          </a:xfrm>
          <a:prstGeom prst="ellipse">
            <a:avLst/>
          </a:prstGeom>
          <a:solidFill>
            <a:srgbClr val="EF4444">
              <a:alpha val="28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288036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" y="277063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Exam Questions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41248" y="30540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your syllabus + past patterns 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most likely questions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182880" y="3493008"/>
            <a:ext cx="4206240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06B6D4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82880" y="3493008"/>
            <a:ext cx="64008" cy="6949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20040" y="3621024"/>
            <a:ext cx="438912" cy="438912"/>
          </a:xfrm>
          <a:prstGeom prst="ellipse">
            <a:avLst/>
          </a:prstGeom>
          <a:solidFill>
            <a:srgbClr val="06B6D4">
              <a:alpha val="28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648456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41248" y="353872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 Engine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841248" y="382219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SM-2 algorithm reschedules flashcards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how well you remembered them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182880" y="4261104"/>
            <a:ext cx="4206240" cy="694944"/>
          </a:xfrm>
          <a:prstGeom prst="rect">
            <a:avLst/>
          </a:prstGeom>
          <a:solidFill>
            <a:srgbClr val="0F1F3D"/>
          </a:solidFill>
          <a:ln w="12700">
            <a:solidFill>
              <a:srgbClr val="EC4899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182880" y="4261104"/>
            <a:ext cx="64008" cy="69494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320040" y="4389120"/>
            <a:ext cx="438912" cy="438912"/>
          </a:xfrm>
          <a:prstGeom prst="ellipse">
            <a:avLst/>
          </a:prstGeom>
          <a:solidFill>
            <a:srgbClr val="EC4899">
              <a:alpha val="28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4416552"/>
            <a:ext cx="384048" cy="38404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41248" y="430682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Motivational Intelligence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841248" y="459028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mood, streak and scores 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right encouragement at right time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4663440" y="8778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5166360" y="1170432"/>
            <a:ext cx="1005840" cy="1005840"/>
          </a:xfrm>
          <a:prstGeom prst="ellipse">
            <a:avLst/>
          </a:prstGeom>
          <a:solidFill>
            <a:srgbClr val="3B82F6">
              <a:alpha val="30000"/>
            </a:srgbClr>
          </a:solidFill>
          <a:ln w="25400">
            <a:solidFill>
              <a:srgbClr val="3B82F6">
                <a:alpha val="70000"/>
              </a:srgbClr>
            </a:solidFill>
            <a:prstDash val="solid"/>
          </a:ln>
          <a:effectLst>
            <a:outerShdw blurRad="228600" dist="50800" dir="8100000" algn="bl" rotWithShape="0">
              <a:srgbClr val="3B82F6">
                <a:alpha val="35000"/>
              </a:srgbClr>
            </a:outerShdw>
          </a:effectLst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8112" y="1472184"/>
            <a:ext cx="402336" cy="40233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663440" y="22311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Opens App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6227064" y="1655064"/>
            <a:ext cx="3474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6483096" y="152704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43" name="Shape 34"/>
          <p:cNvSpPr/>
          <p:nvPr/>
        </p:nvSpPr>
        <p:spPr>
          <a:xfrm>
            <a:off x="7269480" y="1170432"/>
            <a:ext cx="1005840" cy="1005840"/>
          </a:xfrm>
          <a:prstGeom prst="ellipse">
            <a:avLst/>
          </a:prstGeom>
          <a:solidFill>
            <a:srgbClr val="8B5CF6">
              <a:alpha val="30000"/>
            </a:srgbClr>
          </a:solidFill>
          <a:ln w="25400">
            <a:solidFill>
              <a:srgbClr val="8B5CF6">
                <a:alpha val="70000"/>
              </a:srgbClr>
            </a:solidFill>
            <a:prstDash val="solid"/>
          </a:ln>
          <a:effectLst>
            <a:outerShdw blurRad="228600" dist="50800" dir="8100000" algn="bl" rotWithShape="0">
              <a:srgbClr val="8B5CF6">
                <a:alpha val="35000"/>
              </a:srgbClr>
            </a:outerShdw>
          </a:effectLst>
        </p:spPr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1472184"/>
            <a:ext cx="402336" cy="402336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6766560" y="22311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History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7754112" y="2468880"/>
            <a:ext cx="36576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 rot="5400000">
            <a:off x="7644384" y="2596896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48" name="Shape 38"/>
          <p:cNvSpPr/>
          <p:nvPr/>
        </p:nvSpPr>
        <p:spPr>
          <a:xfrm>
            <a:off x="5166360" y="2587752"/>
            <a:ext cx="1005840" cy="1005840"/>
          </a:xfrm>
          <a:prstGeom prst="ellipse">
            <a:avLst/>
          </a:prstGeom>
          <a:solidFill>
            <a:srgbClr val="06B6D4">
              <a:alpha val="30000"/>
            </a:srgbClr>
          </a:solidFill>
          <a:ln w="25400">
            <a:solidFill>
              <a:srgbClr val="06B6D4">
                <a:alpha val="70000"/>
              </a:srgbClr>
            </a:solidFill>
            <a:prstDash val="solid"/>
          </a:ln>
          <a:effectLst>
            <a:outerShdw blurRad="228600" dist="50800" dir="8100000" algn="bl" rotWithShape="0">
              <a:srgbClr val="06B6D4">
                <a:alpha val="35000"/>
              </a:srgbClr>
            </a:outerShdw>
          </a:effectLst>
        </p:spPr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2889504"/>
            <a:ext cx="402336" cy="402336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4663440" y="36484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Gaps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6227064" y="3072384"/>
            <a:ext cx="3474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6483096" y="294436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53" name="Shape 42"/>
          <p:cNvSpPr/>
          <p:nvPr/>
        </p:nvSpPr>
        <p:spPr>
          <a:xfrm>
            <a:off x="7269480" y="2587752"/>
            <a:ext cx="1005840" cy="1005840"/>
          </a:xfrm>
          <a:prstGeom prst="ellipse">
            <a:avLst/>
          </a:prstGeom>
          <a:solidFill>
            <a:srgbClr val="10B981">
              <a:alpha val="30000"/>
            </a:srgbClr>
          </a:solidFill>
          <a:ln w="25400">
            <a:solidFill>
              <a:srgbClr val="10B981">
                <a:alpha val="70000"/>
              </a:srgbClr>
            </a:solidFill>
            <a:prstDash val="solid"/>
          </a:ln>
          <a:effectLst>
            <a:outerShdw blurRad="228600" dist="50800" dir="8100000" algn="bl" rotWithShape="0">
              <a:srgbClr val="10B981">
                <a:alpha val="35000"/>
              </a:srgbClr>
            </a:outerShdw>
          </a:effectLst>
        </p:spPr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2889504"/>
            <a:ext cx="402336" cy="402336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6766560" y="36484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Plan</a:t>
            </a:r>
            <a:endParaRPr lang="en-US" sz="1000" dirty="0"/>
          </a:p>
        </p:txBody>
      </p:sp>
      <p:sp>
        <p:nvSpPr>
          <p:cNvPr id="56" name="Shape 44"/>
          <p:cNvSpPr/>
          <p:nvPr/>
        </p:nvSpPr>
        <p:spPr>
          <a:xfrm>
            <a:off x="7754112" y="3886200"/>
            <a:ext cx="36576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Text 45"/>
          <p:cNvSpPr/>
          <p:nvPr/>
        </p:nvSpPr>
        <p:spPr>
          <a:xfrm rot="5400000">
            <a:off x="7644384" y="4014216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58" name="Shape 46"/>
          <p:cNvSpPr/>
          <p:nvPr/>
        </p:nvSpPr>
        <p:spPr>
          <a:xfrm>
            <a:off x="5166360" y="4005072"/>
            <a:ext cx="1005840" cy="1005840"/>
          </a:xfrm>
          <a:prstGeom prst="ellipse">
            <a:avLst/>
          </a:prstGeom>
          <a:solidFill>
            <a:srgbClr val="F59E0B">
              <a:alpha val="30000"/>
            </a:srgbClr>
          </a:solidFill>
          <a:ln w="25400">
            <a:solidFill>
              <a:srgbClr val="F59E0B">
                <a:alpha val="70000"/>
              </a:srgbClr>
            </a:solidFill>
            <a:prstDash val="solid"/>
          </a:ln>
          <a:effectLst>
            <a:outerShdw blurRad="228600" dist="50800" dir="8100000" algn="bl" rotWithShape="0">
              <a:srgbClr val="F59E0B">
                <a:alpha val="35000"/>
              </a:srgbClr>
            </a:outerShdw>
          </a:effectLst>
        </p:spPr>
      </p:sp>
      <p:pic>
        <p:nvPicPr>
          <p:cNvPr id="59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8112" y="4306824"/>
            <a:ext cx="402336" cy="402336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4663440" y="50657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Studies</a:t>
            </a:r>
            <a:endParaRPr lang="en-US" sz="1000" dirty="0"/>
          </a:p>
        </p:txBody>
      </p:sp>
      <p:sp>
        <p:nvSpPr>
          <p:cNvPr id="61" name="Shape 48"/>
          <p:cNvSpPr/>
          <p:nvPr/>
        </p:nvSpPr>
        <p:spPr>
          <a:xfrm>
            <a:off x="6227064" y="4489704"/>
            <a:ext cx="3474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2" name="Text 49"/>
          <p:cNvSpPr/>
          <p:nvPr/>
        </p:nvSpPr>
        <p:spPr>
          <a:xfrm>
            <a:off x="6483096" y="436168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63" name="Shape 50"/>
          <p:cNvSpPr/>
          <p:nvPr/>
        </p:nvSpPr>
        <p:spPr>
          <a:xfrm>
            <a:off x="7269480" y="4005072"/>
            <a:ext cx="1005840" cy="1005840"/>
          </a:xfrm>
          <a:prstGeom prst="ellipse">
            <a:avLst/>
          </a:prstGeom>
          <a:solidFill>
            <a:srgbClr val="EC4899">
              <a:alpha val="30000"/>
            </a:srgbClr>
          </a:solidFill>
          <a:ln w="25400">
            <a:solidFill>
              <a:srgbClr val="EC4899">
                <a:alpha val="70000"/>
              </a:srgbClr>
            </a:solidFill>
            <a:prstDash val="solid"/>
          </a:ln>
          <a:effectLst>
            <a:outerShdw blurRad="228600" dist="50800" dir="8100000" algn="bl" rotWithShape="0">
              <a:srgbClr val="EC4899">
                <a:alpha val="35000"/>
              </a:srgbClr>
            </a:outerShdw>
          </a:effectLst>
        </p:spPr>
      </p:sp>
      <p:pic>
        <p:nvPicPr>
          <p:cNvPr id="64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1232" y="4306824"/>
            <a:ext cx="402336" cy="402336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6766560" y="50657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48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LANGUAGES — GLOBAL REACH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402336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command switches everything — voice, AI responses and recognition.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28600" y="914400"/>
            <a:ext cx="2029968" cy="1664208"/>
          </a:xfrm>
          <a:prstGeom prst="rect">
            <a:avLst/>
          </a:prstGeom>
          <a:solidFill>
            <a:srgbClr val="0F1F3D"/>
          </a:solidFill>
          <a:ln w="12700">
            <a:solidFill>
              <a:srgbClr val="F97316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914400"/>
            <a:ext cx="202996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10058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🇮🇳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228600" y="160020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Hindi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28600" y="1865376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हिन्दी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28600" y="2148840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600M speakers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441448" y="914400"/>
            <a:ext cx="2029968" cy="1664208"/>
          </a:xfrm>
          <a:prstGeom prst="rect">
            <a:avLst/>
          </a:prstGeom>
          <a:solidFill>
            <a:srgbClr val="0F1F3D"/>
          </a:solidFill>
          <a:ln w="12700">
            <a:solidFill>
              <a:srgbClr val="EF4444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41448" y="914400"/>
            <a:ext cx="2029968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41448" y="10058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🇮🇳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2441448" y="160020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Tamil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441448" y="1865376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தமிழ்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441448" y="2148840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 speakers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54296" y="914400"/>
            <a:ext cx="2029968" cy="1664208"/>
          </a:xfrm>
          <a:prstGeom prst="rect">
            <a:avLst/>
          </a:prstGeom>
          <a:solidFill>
            <a:srgbClr val="0F1F3D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54296" y="914400"/>
            <a:ext cx="202996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54296" y="10058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🇮🇳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4654296" y="160020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Telugu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654296" y="1865376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తెలుగు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654296" y="2148840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95M speakers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867144" y="914400"/>
            <a:ext cx="2029968" cy="1664208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867144" y="914400"/>
            <a:ext cx="202996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67144" y="10058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🇬🇧</a:t>
            </a:r>
            <a:endParaRPr lang="en-US" sz="3600" dirty="0"/>
          </a:p>
        </p:txBody>
      </p:sp>
      <p:sp>
        <p:nvSpPr>
          <p:cNvPr id="27" name="Text 24"/>
          <p:cNvSpPr/>
          <p:nvPr/>
        </p:nvSpPr>
        <p:spPr>
          <a:xfrm>
            <a:off x="6867144" y="160020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867144" y="1865376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67144" y="2148840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 speakers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28600" y="2788920"/>
            <a:ext cx="2029968" cy="1664208"/>
          </a:xfrm>
          <a:prstGeom prst="rect">
            <a:avLst/>
          </a:prstGeom>
          <a:solidFill>
            <a:srgbClr val="0F1F3D"/>
          </a:solidFill>
          <a:ln w="12700">
            <a:solidFill>
              <a:srgbClr val="06B6D4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28600" y="2788920"/>
            <a:ext cx="2029968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28600" y="288036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🇫🇷</a:t>
            </a:r>
            <a:endParaRPr lang="en-US" sz="3600" dirty="0"/>
          </a:p>
        </p:txBody>
      </p:sp>
      <p:sp>
        <p:nvSpPr>
          <p:cNvPr id="33" name="Text 30"/>
          <p:cNvSpPr/>
          <p:nvPr/>
        </p:nvSpPr>
        <p:spPr>
          <a:xfrm>
            <a:off x="228600" y="347472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French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228600" y="3739896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28600" y="4023360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 speakers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441448" y="2788920"/>
            <a:ext cx="2029968" cy="1664208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2441448" y="2788920"/>
            <a:ext cx="20299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441448" y="288036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🇪🇸</a:t>
            </a:r>
            <a:endParaRPr lang="en-US" sz="3600" dirty="0"/>
          </a:p>
        </p:txBody>
      </p:sp>
      <p:sp>
        <p:nvSpPr>
          <p:cNvPr id="39" name="Text 36"/>
          <p:cNvSpPr/>
          <p:nvPr/>
        </p:nvSpPr>
        <p:spPr>
          <a:xfrm>
            <a:off x="2441448" y="347472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Spanish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2441448" y="3739896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2441448" y="4023360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 speakers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654296" y="2788920"/>
            <a:ext cx="2029968" cy="1664208"/>
          </a:xfrm>
          <a:prstGeom prst="rect">
            <a:avLst/>
          </a:prstGeom>
          <a:solidFill>
            <a:srgbClr val="0F1F3D"/>
          </a:solidFill>
          <a:ln w="12700">
            <a:solidFill>
              <a:srgbClr val="8B5CF6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654296" y="2788920"/>
            <a:ext cx="2029968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54296" y="288036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🇩🇪</a:t>
            </a:r>
            <a:endParaRPr lang="en-US" sz="3600" dirty="0"/>
          </a:p>
        </p:txBody>
      </p:sp>
      <p:sp>
        <p:nvSpPr>
          <p:cNvPr id="45" name="Text 42"/>
          <p:cNvSpPr/>
          <p:nvPr/>
        </p:nvSpPr>
        <p:spPr>
          <a:xfrm>
            <a:off x="4654296" y="347472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German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4654296" y="3739896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4654296" y="4023360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130M speakers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867144" y="2788920"/>
            <a:ext cx="2029968" cy="1664208"/>
          </a:xfrm>
          <a:prstGeom prst="rect">
            <a:avLst/>
          </a:prstGeom>
          <a:solidFill>
            <a:srgbClr val="0F1F3D"/>
          </a:solidFill>
          <a:ln w="12700">
            <a:solidFill>
              <a:srgbClr val="EC4899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867144" y="2788920"/>
            <a:ext cx="2029968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867144" y="288036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🇮🇹</a:t>
            </a:r>
            <a:endParaRPr lang="en-US" sz="3600" dirty="0"/>
          </a:p>
        </p:txBody>
      </p:sp>
      <p:sp>
        <p:nvSpPr>
          <p:cNvPr id="51" name="Text 48"/>
          <p:cNvSpPr/>
          <p:nvPr/>
        </p:nvSpPr>
        <p:spPr>
          <a:xfrm>
            <a:off x="6867144" y="347472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Italian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6867144" y="3739896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Italiano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867144" y="4023360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85M speakers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30F22"/>
          </a:solidFill>
          <a:ln w="12700">
            <a:solidFill>
              <a:srgbClr val="030F22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Combined reach: 3.3+ Billion speakers  •  All 8 switch voice recognition + TTS + AI responses simultaneously  •  More languages coming soon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48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WITH SARA AI — STUDENT JOURNEY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402336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first wake-up to exam prep — SARA is with you every step.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82880" y="896112"/>
            <a:ext cx="42519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" y="896112"/>
            <a:ext cx="4251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6032" y="1005840"/>
            <a:ext cx="749808" cy="256032"/>
          </a:xfrm>
          <a:prstGeom prst="rect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100584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AM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060704" y="987552"/>
            <a:ext cx="365760" cy="36576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101498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99616" y="98755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Boost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56032" y="1371600"/>
            <a:ext cx="409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greets by name, reads the day's study goals, checks streak &amp; sends motivational message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709160" y="896112"/>
            <a:ext cx="42519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09160" y="896112"/>
            <a:ext cx="42519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82312" y="1005840"/>
            <a:ext cx="749808" cy="256032"/>
          </a:xfrm>
          <a:prstGeom prst="rect">
            <a:avLst/>
          </a:prstGeom>
          <a:solidFill>
            <a:srgbClr val="3B82F6">
              <a:alpha val="28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82312" y="100584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AM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586984" y="987552"/>
            <a:ext cx="365760" cy="36576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416" y="1014984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25896" y="98755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Time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82312" y="1371600"/>
            <a:ext cx="409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says 'teach me Newton's Laws' — SARA teaches in 4 steps, reads aloud in Hindi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182880" y="1938528"/>
            <a:ext cx="42519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82880" y="1938528"/>
            <a:ext cx="4251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56032" y="2048256"/>
            <a:ext cx="749808" cy="256032"/>
          </a:xfrm>
          <a:prstGeom prst="rect">
            <a:avLst/>
          </a:prstGeom>
          <a:solidFill>
            <a:srgbClr val="8B5CF6">
              <a:alpha val="28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56032" y="2048256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AM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1060704" y="2029968"/>
            <a:ext cx="365760" cy="365760"/>
          </a:xfrm>
          <a:prstGeom prst="ellipse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2057400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99616" y="202996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Quiz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256032" y="2414016"/>
            <a:ext cx="409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'Generate quiz on Newton's Laws' — 10 MCQs by voice, SARA gives instant audio feedback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709160" y="1938528"/>
            <a:ext cx="42519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6B6D4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709160" y="1938528"/>
            <a:ext cx="4251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782312" y="2048256"/>
            <a:ext cx="749808" cy="256032"/>
          </a:xfrm>
          <a:prstGeom prst="rect">
            <a:avLst/>
          </a:prstGeom>
          <a:solidFill>
            <a:srgbClr val="06B6D4">
              <a:alpha val="28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782312" y="2048256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PM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5586984" y="2029968"/>
            <a:ext cx="365760" cy="36576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4416" y="2057400"/>
            <a:ext cx="310896" cy="31089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025896" y="202996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 Review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4782312" y="2414016"/>
            <a:ext cx="409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 schedules today's flashcards — student flips all 15 cards by voice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182880" y="2980944"/>
            <a:ext cx="42519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182880" y="2980944"/>
            <a:ext cx="4251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256032" y="3090672"/>
            <a:ext cx="749808" cy="256032"/>
          </a:xfrm>
          <a:prstGeom prst="rect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256032" y="309067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 PM</a:t>
            </a:r>
            <a:endParaRPr lang="en-US" sz="850" dirty="0"/>
          </a:p>
        </p:txBody>
      </p:sp>
      <p:sp>
        <p:nvSpPr>
          <p:cNvPr id="42" name="Shape 35"/>
          <p:cNvSpPr/>
          <p:nvPr/>
        </p:nvSpPr>
        <p:spPr>
          <a:xfrm>
            <a:off x="1060704" y="3072384"/>
            <a:ext cx="365760" cy="365760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36" y="3099816"/>
            <a:ext cx="310896" cy="310896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499616" y="307238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 Solving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256032" y="3456432"/>
            <a:ext cx="409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'Ask doubt: explain electromagnetism' — SARA solves with example, quiz question &amp; takeaway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4709160" y="2980944"/>
            <a:ext cx="42519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F97316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4709160" y="2980944"/>
            <a:ext cx="42519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4782312" y="3090672"/>
            <a:ext cx="749808" cy="256032"/>
          </a:xfrm>
          <a:prstGeom prst="rect">
            <a:avLst/>
          </a:prstGeom>
          <a:solidFill>
            <a:srgbClr val="F97316">
              <a:alpha val="28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4782312" y="309067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PM</a:t>
            </a:r>
            <a:endParaRPr lang="en-US" sz="850" dirty="0"/>
          </a:p>
        </p:txBody>
      </p:sp>
      <p:sp>
        <p:nvSpPr>
          <p:cNvPr id="50" name="Shape 42"/>
          <p:cNvSpPr/>
          <p:nvPr/>
        </p:nvSpPr>
        <p:spPr>
          <a:xfrm>
            <a:off x="5586984" y="3072384"/>
            <a:ext cx="365760" cy="365760"/>
          </a:xfrm>
          <a:prstGeom prst="ellipse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4416" y="3099816"/>
            <a:ext cx="310896" cy="310896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6025896" y="307238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Planning</a:t>
            </a:r>
            <a:endParaRPr lang="en-US" sz="1200" dirty="0"/>
          </a:p>
        </p:txBody>
      </p:sp>
      <p:sp>
        <p:nvSpPr>
          <p:cNvPr id="53" name="Text 44"/>
          <p:cNvSpPr/>
          <p:nvPr/>
        </p:nvSpPr>
        <p:spPr>
          <a:xfrm>
            <a:off x="4782312" y="3456432"/>
            <a:ext cx="409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 reviews today's performance &amp; automatically adjusts tomorrow's study plan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182880" y="4023360"/>
            <a:ext cx="42519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EF4444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182880" y="4023360"/>
            <a:ext cx="42519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256032" y="4133088"/>
            <a:ext cx="749808" cy="256032"/>
          </a:xfrm>
          <a:prstGeom prst="rect">
            <a:avLst/>
          </a:prstGeom>
          <a:solidFill>
            <a:srgbClr val="EF4444">
              <a:alpha val="28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256032" y="413308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PM</a:t>
            </a:r>
            <a:endParaRPr lang="en-US" sz="850" dirty="0"/>
          </a:p>
        </p:txBody>
      </p:sp>
      <p:sp>
        <p:nvSpPr>
          <p:cNvPr id="58" name="Shape 49"/>
          <p:cNvSpPr/>
          <p:nvPr/>
        </p:nvSpPr>
        <p:spPr>
          <a:xfrm>
            <a:off x="1060704" y="4114800"/>
            <a:ext cx="365760" cy="365760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8136" y="4142232"/>
            <a:ext cx="310896" cy="310896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1499616" y="411480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</a:t>
            </a:r>
            <a:endParaRPr lang="en-US" sz="1200" dirty="0"/>
          </a:p>
        </p:txBody>
      </p:sp>
      <p:sp>
        <p:nvSpPr>
          <p:cNvPr id="61" name="Text 51"/>
          <p:cNvSpPr/>
          <p:nvPr/>
        </p:nvSpPr>
        <p:spPr>
          <a:xfrm>
            <a:off x="256032" y="4498848"/>
            <a:ext cx="409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 Agent predicts likely Physics exam questions based on syllabus + history</a:t>
            </a:r>
            <a:endParaRPr lang="en-US" sz="900" dirty="0"/>
          </a:p>
        </p:txBody>
      </p:sp>
      <p:sp>
        <p:nvSpPr>
          <p:cNvPr id="62" name="Shape 52"/>
          <p:cNvSpPr/>
          <p:nvPr/>
        </p:nvSpPr>
        <p:spPr>
          <a:xfrm>
            <a:off x="4709160" y="4023360"/>
            <a:ext cx="42519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EC4899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3" name="Shape 53"/>
          <p:cNvSpPr/>
          <p:nvPr/>
        </p:nvSpPr>
        <p:spPr>
          <a:xfrm>
            <a:off x="4709160" y="4023360"/>
            <a:ext cx="425196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4782312" y="4133088"/>
            <a:ext cx="749808" cy="256032"/>
          </a:xfrm>
          <a:prstGeom prst="rect">
            <a:avLst/>
          </a:prstGeom>
          <a:solidFill>
            <a:srgbClr val="EC4899">
              <a:alpha val="28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sp>
        <p:nvSpPr>
          <p:cNvPr id="65" name="Text 55"/>
          <p:cNvSpPr/>
          <p:nvPr/>
        </p:nvSpPr>
        <p:spPr>
          <a:xfrm>
            <a:off x="4782312" y="413308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PM</a:t>
            </a:r>
            <a:endParaRPr lang="en-US" sz="850" dirty="0"/>
          </a:p>
        </p:txBody>
      </p:sp>
      <p:sp>
        <p:nvSpPr>
          <p:cNvPr id="66" name="Shape 56"/>
          <p:cNvSpPr/>
          <p:nvPr/>
        </p:nvSpPr>
        <p:spPr>
          <a:xfrm>
            <a:off x="5586984" y="4114800"/>
            <a:ext cx="365760" cy="365760"/>
          </a:xfrm>
          <a:prstGeom prst="ellipse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6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4416" y="4142232"/>
            <a:ext cx="310896" cy="310896"/>
          </a:xfrm>
          <a:prstGeom prst="rect">
            <a:avLst/>
          </a:prstGeom>
        </p:spPr>
      </p:pic>
      <p:sp>
        <p:nvSpPr>
          <p:cNvPr id="68" name="Text 57"/>
          <p:cNvSpPr/>
          <p:nvPr/>
        </p:nvSpPr>
        <p:spPr>
          <a:xfrm>
            <a:off x="6025896" y="411480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Set</a:t>
            </a:r>
            <a:endParaRPr lang="en-US" sz="1200" dirty="0"/>
          </a:p>
        </p:txBody>
      </p:sp>
      <p:sp>
        <p:nvSpPr>
          <p:cNvPr id="69" name="Text 58"/>
          <p:cNvSpPr/>
          <p:nvPr/>
        </p:nvSpPr>
        <p:spPr>
          <a:xfrm>
            <a:off x="4782312" y="4498848"/>
            <a:ext cx="409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confirms: 'Physics exam in 3 days — reminder email sent to your inbox!' 📧</a:t>
            </a:r>
            <a:endParaRPr lang="en-US" sz="900" dirty="0"/>
          </a:p>
        </p:txBody>
      </p:sp>
      <p:sp>
        <p:nvSpPr>
          <p:cNvPr id="70" name="Shape 5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30F22"/>
          </a:solidFill>
          <a:ln w="12700">
            <a:solidFill>
              <a:srgbClr val="030F22"/>
            </a:solidFill>
            <a:prstDash val="solid"/>
          </a:ln>
        </p:spPr>
      </p:sp>
      <p:sp>
        <p:nvSpPr>
          <p:cNvPr id="71" name="Text 60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Every day SARA tracks your streak, score average &amp; time studied — keeping students motivated &amp; accountable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48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REMINDERS — NEVER MISS AN EXAM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402336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 a timetable photo. SARA does the rest.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" y="8778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TIMETABLE REMINDERS WORK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82880" y="1188720"/>
            <a:ext cx="4206240" cy="676656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8600" y="1344168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1344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" y="1344168"/>
            <a:ext cx="365760" cy="36576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7160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1234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Timetable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97280" y="15179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or PDF of any timetable — even handwritten, even blurry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84048" y="1865376"/>
            <a:ext cx="54864" cy="91440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82880" y="1938528"/>
            <a:ext cx="4206240" cy="676656"/>
          </a:xfrm>
          <a:prstGeom prst="rect">
            <a:avLst/>
          </a:prstGeom>
          <a:solidFill>
            <a:srgbClr val="0F1F3D"/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28600" y="2093976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28600" y="2093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58368" y="2093976"/>
            <a:ext cx="365760" cy="365760"/>
          </a:xfrm>
          <a:prstGeom prst="ellipse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121408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19842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Reads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97280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API reads &amp; extracts all subjects, dates and times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84048" y="2615184"/>
            <a:ext cx="54864" cy="91440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82880" y="2688336"/>
            <a:ext cx="4206240" cy="676656"/>
          </a:xfrm>
          <a:prstGeom prst="rect">
            <a:avLst/>
          </a:prstGeom>
          <a:solidFill>
            <a:srgbClr val="0F1F3D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28600" y="2843784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28600" y="2843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58368" y="2843784"/>
            <a:ext cx="365760" cy="365760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871216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7280" y="27340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Created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9728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exam dates auto-added with customisable lead times (15min–1day)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84048" y="3364992"/>
            <a:ext cx="54864" cy="91440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82880" y="3438144"/>
            <a:ext cx="4206240" cy="676656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228600" y="359359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228600" y="3593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658368" y="3593592"/>
            <a:ext cx="365760" cy="36576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621024"/>
            <a:ext cx="310896" cy="31089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097280" y="34838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Alert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1097280" y="3767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reminder time, SARA speaks aloud: 'Maths exam in 1 hour!'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384048" y="4114800"/>
            <a:ext cx="54864" cy="91440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82880" y="4187952"/>
            <a:ext cx="4206240" cy="676656"/>
          </a:xfrm>
          <a:prstGeom prst="rect">
            <a:avLst/>
          </a:prstGeom>
          <a:solidFill>
            <a:srgbClr val="0F1F3D"/>
          </a:solidFill>
          <a:ln w="12700">
            <a:solidFill>
              <a:srgbClr val="EC4899">
                <a:alpha val="4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228600" y="4343400"/>
            <a:ext cx="365760" cy="3657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22860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658368" y="4343400"/>
            <a:ext cx="365760" cy="365760"/>
          </a:xfrm>
          <a:prstGeom prst="ellipse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370832"/>
            <a:ext cx="310896" cy="310896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097280" y="4233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1097280" y="45171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email via EmailJS with personalised message and study tip</a:t>
            </a:r>
            <a:endParaRPr lang="en-US" sz="950" dirty="0"/>
          </a:p>
        </p:txBody>
      </p:sp>
      <p:sp>
        <p:nvSpPr>
          <p:cNvPr id="46" name="Text 38"/>
          <p:cNvSpPr/>
          <p:nvPr/>
        </p:nvSpPr>
        <p:spPr>
          <a:xfrm>
            <a:off x="4663440" y="8778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REMINDER EMAIL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4663440" y="1188720"/>
            <a:ext cx="4206240" cy="349300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4663440" y="1188720"/>
            <a:ext cx="4206240" cy="4114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243584"/>
            <a:ext cx="292608" cy="292608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5065776" y="12252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AI — Exam Reminder 🎓</a:t>
            </a:r>
            <a:endParaRPr lang="en-US" sz="1200" dirty="0"/>
          </a:p>
        </p:txBody>
      </p:sp>
      <p:sp>
        <p:nvSpPr>
          <p:cNvPr id="51" name="Text 42"/>
          <p:cNvSpPr/>
          <p:nvPr/>
        </p:nvSpPr>
        <p:spPr>
          <a:xfrm>
            <a:off x="4736592" y="166420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</a:t>
            </a: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student@email.com
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AI Study Assistant
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Maths Exam Tomorrow!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4736592" y="2395728"/>
            <a:ext cx="4059936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4736592" y="2468880"/>
            <a:ext cx="4059936" cy="1901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Rahul,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Maths exam is scheduled for tomorrow, 10th June at 10:00 AM.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SARA's Tip: Review Chapter 7 — Trigonometry. You scored 65% on your last quiz on this topic. Spend 45 minutes on it tonight!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streak: 🔥 12 days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score: 📊 78%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got this! — SARA 🤖</a:t>
            </a:r>
            <a:endParaRPr lang="en-US" sz="950" dirty="0"/>
          </a:p>
        </p:txBody>
      </p:sp>
      <p:sp>
        <p:nvSpPr>
          <p:cNvPr id="54" name="Shape 45"/>
          <p:cNvSpPr/>
          <p:nvPr/>
        </p:nvSpPr>
        <p:spPr>
          <a:xfrm>
            <a:off x="4663440" y="4736592"/>
            <a:ext cx="4206240" cy="274320"/>
          </a:xfrm>
          <a:prstGeom prst="rect">
            <a:avLst/>
          </a:prstGeom>
          <a:solidFill>
            <a:srgbClr val="030F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4709160" y="475488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EmailJS  •  No backend server  •  Works from pure browser  •  Free tier: 200 emails/month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48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 — WHERE SARA IS HEADED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402336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SARA v1 is just the beginning.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82880" y="877824"/>
            <a:ext cx="2788920" cy="4114800"/>
          </a:xfrm>
          <a:prstGeom prst="rect">
            <a:avLst/>
          </a:prstGeom>
          <a:solidFill>
            <a:srgbClr val="0F1F3D"/>
          </a:solidFill>
          <a:ln w="12700">
            <a:solidFill>
              <a:srgbClr val="10B981">
                <a:alpha val="5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" y="877824"/>
            <a:ext cx="27889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95097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SARA v1 — Available NOW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" y="1545336"/>
            <a:ext cx="201168" cy="201168"/>
          </a:xfrm>
          <a:prstGeom prst="ellipse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563624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147218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AI features across learning, planning &amp; accessibility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92608" y="2112264"/>
            <a:ext cx="201168" cy="201168"/>
          </a:xfrm>
          <a:prstGeom prst="ellipse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2130552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" y="203911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voice commands for complete hands-free control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292608" y="2679192"/>
            <a:ext cx="201168" cy="201168"/>
          </a:xfrm>
          <a:prstGeom prst="ellipse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2697480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" y="260604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languages with full voice + AI switching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292608" y="3246120"/>
            <a:ext cx="201168" cy="201168"/>
          </a:xfrm>
          <a:prstGeom prst="ellipse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3264408"/>
            <a:ext cx="164592" cy="1645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8640" y="317296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reminders with AI timetable reading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292608" y="3813048"/>
            <a:ext cx="201168" cy="201168"/>
          </a:xfrm>
          <a:prstGeom prst="ellipse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3831336"/>
            <a:ext cx="164592" cy="16459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48640" y="373989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Gemini API keys — 40 req/min combined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292608" y="4379976"/>
            <a:ext cx="201168" cy="201168"/>
          </a:xfrm>
          <a:prstGeom prst="ellipse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4398264"/>
            <a:ext cx="164592" cy="16459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48640" y="430682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 — zero installation required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3154680" y="877824"/>
            <a:ext cx="2788920" cy="4114800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>
                <a:alpha val="5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3154680" y="877824"/>
            <a:ext cx="278892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3246120" y="95097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0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SARA v2 — Coming Next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3264408" y="1545336"/>
            <a:ext cx="201168" cy="20116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563624"/>
            <a:ext cx="164592" cy="16459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3520440" y="147218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(Android &amp; iOS) with offline support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3264408" y="2112264"/>
            <a:ext cx="201168" cy="20116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2130552"/>
            <a:ext cx="164592" cy="16459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3520440" y="203911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Braille output integration for Braille displays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3264408" y="2679192"/>
            <a:ext cx="201168" cy="20116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2697480"/>
            <a:ext cx="164592" cy="16459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3520440" y="260604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&amp; teacher dashboard — track student progress</a:t>
            </a:r>
            <a:endParaRPr lang="en-US" sz="1000" dirty="0"/>
          </a:p>
        </p:txBody>
      </p:sp>
      <p:sp>
        <p:nvSpPr>
          <p:cNvPr id="39" name="Shape 27"/>
          <p:cNvSpPr/>
          <p:nvPr/>
        </p:nvSpPr>
        <p:spPr>
          <a:xfrm>
            <a:off x="3264408" y="3246120"/>
            <a:ext cx="201168" cy="20116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3264408"/>
            <a:ext cx="164592" cy="164592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3520440" y="317296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LMS integration (Google Classroom, Moodle)</a:t>
            </a:r>
            <a:endParaRPr lang="en-US" sz="1000" dirty="0"/>
          </a:p>
        </p:txBody>
      </p:sp>
      <p:sp>
        <p:nvSpPr>
          <p:cNvPr id="42" name="Shape 29"/>
          <p:cNvSpPr/>
          <p:nvPr/>
        </p:nvSpPr>
        <p:spPr>
          <a:xfrm>
            <a:off x="3264408" y="3813048"/>
            <a:ext cx="201168" cy="20116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3831336"/>
            <a:ext cx="164592" cy="164592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3520440" y="373989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additional language support</a:t>
            </a:r>
            <a:endParaRPr lang="en-US" sz="1000" dirty="0"/>
          </a:p>
        </p:txBody>
      </p:sp>
      <p:sp>
        <p:nvSpPr>
          <p:cNvPr id="45" name="Shape 31"/>
          <p:cNvSpPr/>
          <p:nvPr/>
        </p:nvSpPr>
        <p:spPr>
          <a:xfrm>
            <a:off x="3264408" y="4379976"/>
            <a:ext cx="201168" cy="20116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4398264"/>
            <a:ext cx="164592" cy="164592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3520440" y="430682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personalised textbook summaries</a:t>
            </a:r>
            <a:endParaRPr lang="en-US" sz="1000" dirty="0"/>
          </a:p>
        </p:txBody>
      </p:sp>
      <p:sp>
        <p:nvSpPr>
          <p:cNvPr id="48" name="Shape 33"/>
          <p:cNvSpPr/>
          <p:nvPr/>
        </p:nvSpPr>
        <p:spPr>
          <a:xfrm>
            <a:off x="6126480" y="877824"/>
            <a:ext cx="2788920" cy="4114800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>
                <a:alpha val="5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Shape 34"/>
          <p:cNvSpPr/>
          <p:nvPr/>
        </p:nvSpPr>
        <p:spPr>
          <a:xfrm>
            <a:off x="6126480" y="877824"/>
            <a:ext cx="278892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35"/>
          <p:cNvSpPr/>
          <p:nvPr/>
        </p:nvSpPr>
        <p:spPr>
          <a:xfrm>
            <a:off x="6217920" y="95097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SARA v3 — The Vision</a:t>
            </a:r>
            <a:endParaRPr lang="en-US" sz="1100" dirty="0"/>
          </a:p>
        </p:txBody>
      </p:sp>
      <p:sp>
        <p:nvSpPr>
          <p:cNvPr id="51" name="Shape 36"/>
          <p:cNvSpPr/>
          <p:nvPr/>
        </p:nvSpPr>
        <p:spPr>
          <a:xfrm>
            <a:off x="6236208" y="1545336"/>
            <a:ext cx="201168" cy="201168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563624"/>
            <a:ext cx="164592" cy="164592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6492240" y="147218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 — study groups by voice</a:t>
            </a:r>
            <a:endParaRPr lang="en-US" sz="1000" dirty="0"/>
          </a:p>
        </p:txBody>
      </p:sp>
      <p:sp>
        <p:nvSpPr>
          <p:cNvPr id="54" name="Shape 38"/>
          <p:cNvSpPr/>
          <p:nvPr/>
        </p:nvSpPr>
        <p:spPr>
          <a:xfrm>
            <a:off x="6236208" y="2112264"/>
            <a:ext cx="201168" cy="201168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pic>
        <p:nvPicPr>
          <p:cNvPr id="55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2130552"/>
            <a:ext cx="164592" cy="164592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6492240" y="203911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ARCore audio AR — 3D spatial learning environments</a:t>
            </a:r>
            <a:endParaRPr lang="en-US" sz="1000" dirty="0"/>
          </a:p>
        </p:txBody>
      </p:sp>
      <p:sp>
        <p:nvSpPr>
          <p:cNvPr id="57" name="Shape 40"/>
          <p:cNvSpPr/>
          <p:nvPr/>
        </p:nvSpPr>
        <p:spPr>
          <a:xfrm>
            <a:off x="6236208" y="2679192"/>
            <a:ext cx="201168" cy="201168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2697480"/>
            <a:ext cx="164592" cy="164592"/>
          </a:xfrm>
          <a:prstGeom prst="rect">
            <a:avLst/>
          </a:prstGeom>
        </p:spPr>
      </p:pic>
      <p:sp>
        <p:nvSpPr>
          <p:cNvPr id="59" name="Text 41"/>
          <p:cNvSpPr/>
          <p:nvPr/>
        </p:nvSpPr>
        <p:spPr>
          <a:xfrm>
            <a:off x="6492240" y="260604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&amp; rehabilitation integration for VI students</a:t>
            </a:r>
            <a:endParaRPr lang="en-US" sz="1000" dirty="0"/>
          </a:p>
        </p:txBody>
      </p:sp>
      <p:sp>
        <p:nvSpPr>
          <p:cNvPr id="60" name="Shape 42"/>
          <p:cNvSpPr/>
          <p:nvPr/>
        </p:nvSpPr>
        <p:spPr>
          <a:xfrm>
            <a:off x="6236208" y="3246120"/>
            <a:ext cx="201168" cy="201168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pic>
        <p:nvPicPr>
          <p:cNvPr id="61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264408"/>
            <a:ext cx="164592" cy="164592"/>
          </a:xfrm>
          <a:prstGeom prst="rect">
            <a:avLst/>
          </a:prstGeom>
        </p:spPr>
      </p:pic>
      <p:sp>
        <p:nvSpPr>
          <p:cNvPr id="62" name="Text 43"/>
          <p:cNvSpPr/>
          <p:nvPr/>
        </p:nvSpPr>
        <p:spPr>
          <a:xfrm>
            <a:off x="6492240" y="317296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NGO partnerships for free distribution</a:t>
            </a:r>
            <a:endParaRPr lang="en-US" sz="1000" dirty="0"/>
          </a:p>
        </p:txBody>
      </p:sp>
      <p:sp>
        <p:nvSpPr>
          <p:cNvPr id="63" name="Shape 44"/>
          <p:cNvSpPr/>
          <p:nvPr/>
        </p:nvSpPr>
        <p:spPr>
          <a:xfrm>
            <a:off x="6236208" y="3813048"/>
            <a:ext cx="201168" cy="201168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pic>
        <p:nvPicPr>
          <p:cNvPr id="64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831336"/>
            <a:ext cx="164592" cy="164592"/>
          </a:xfrm>
          <a:prstGeom prst="rect">
            <a:avLst/>
          </a:prstGeom>
        </p:spPr>
      </p:pic>
      <p:sp>
        <p:nvSpPr>
          <p:cNvPr id="65" name="Text 45"/>
          <p:cNvSpPr/>
          <p:nvPr/>
        </p:nvSpPr>
        <p:spPr>
          <a:xfrm>
            <a:off x="6492240" y="373989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Multi-modal: camera input for solving printed textbooks</a:t>
            </a:r>
            <a:endParaRPr lang="en-US" sz="1000" dirty="0"/>
          </a:p>
        </p:txBody>
      </p:sp>
      <p:sp>
        <p:nvSpPr>
          <p:cNvPr id="66" name="Shape 46"/>
          <p:cNvSpPr/>
          <p:nvPr/>
        </p:nvSpPr>
        <p:spPr>
          <a:xfrm>
            <a:off x="6236208" y="4379976"/>
            <a:ext cx="201168" cy="201168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pic>
        <p:nvPicPr>
          <p:cNvPr id="67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4398264"/>
            <a:ext cx="164592" cy="164592"/>
          </a:xfrm>
          <a:prstGeom prst="rect">
            <a:avLst/>
          </a:prstGeom>
        </p:spPr>
      </p:pic>
      <p:sp>
        <p:nvSpPr>
          <p:cNvPr id="68" name="Text 47"/>
          <p:cNvSpPr/>
          <p:nvPr/>
        </p:nvSpPr>
        <p:spPr>
          <a:xfrm>
            <a:off x="6492240" y="430682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certified curriculum for 50+ countries</a:t>
            </a:r>
            <a:endParaRPr lang="en-US" sz="1000" dirty="0"/>
          </a:p>
        </p:txBody>
      </p:sp>
      <p:sp>
        <p:nvSpPr>
          <p:cNvPr id="69" name="Shape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30F22"/>
          </a:solidFill>
          <a:ln w="12700">
            <a:solidFill>
              <a:srgbClr val="030F22"/>
            </a:solidFill>
            <a:prstDash val="solid"/>
          </a:ln>
        </p:spPr>
      </p:sp>
      <p:sp>
        <p:nvSpPr>
          <p:cNvPr id="70" name="Text 49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Goal: Make SARA available to every visually impaired student on the planet — free, always.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sponsible AI"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Label"/>
          <p:cNvSpPr/>
          <p:nvPr/>
        </p:nvSpPr>
        <p:spPr>
          <a:xfrm>
            <a:off x="304800" y="0"/>
            <a:ext cx="45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</a:rPr>
              <a:t>RESPONSIBLE AI DESIGN</a:t>
            </a:r>
          </a:p>
        </p:txBody>
      </p:sp>
      <p:sp>
        <p:nvSpPr>
          <p:cNvPr id="5" name="Title"/>
          <p:cNvSpPr/>
          <p:nvPr/>
        </p:nvSpPr>
        <p:spPr>
          <a:xfrm>
            <a:off x="304800" y="500000"/>
            <a:ext cx="85344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</a:rPr>
              <a:t>Built with </a:t>
            </a:r>
            <a:r>
              <a:rPr lang="en-US" sz="3000" b="1" dirty="0">
                <a:solidFill>
                  <a:srgbClr val="10B981"/>
                </a:solidFill>
                <a:latin typeface="Arial Black" pitchFamily="34" charset="0"/>
              </a:rPr>
              <a:t>Responsible AI</a:t>
            </a: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</a:rPr>
              <a:t> at its Core</a:t>
            </a:r>
          </a:p>
        </p:txBody>
      </p:sp>
      <p:sp>
        <p:nvSpPr>
          <p:cNvPr id="6" name="AccentLine"/>
          <p:cNvSpPr/>
          <p:nvPr/>
        </p:nvSpPr>
        <p:spPr>
          <a:xfrm>
            <a:off x="3048000" y="1148000"/>
            <a:ext cx="3048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7" name="Body1"/>
          <p:cNvSpPr/>
          <p:nvPr/>
        </p:nvSpPr>
        <p:spPr>
          <a:xfrm>
            <a:off x="304800" y="1250000"/>
            <a:ext cx="85344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600" b="0" dirty="0">
                <a:solidFill>
                  <a:srgbClr val="94A3B8"/>
                </a:solidFill>
                <a:latin typeface="Arial" pitchFamily="34" charset="0"/>
              </a:rPr>
              <a:t>We also ensured responsible AI design, focusing on </a:t>
            </a:r>
            <a:r>
              <a:rPr lang="en-US" sz="1600" b="1" dirty="0">
                <a:solidFill>
                  <a:srgbClr val="10B981"/>
                </a:solidFill>
                <a:latin typeface="Arial" pitchFamily="34" charset="0"/>
              </a:rPr>
              <a:t>privacy, fairness, safety, and inclusion.</a:t>
            </a:r>
          </a:p>
        </p:txBody>
      </p:sp>
      <p:sp>
        <p:nvSpPr>
          <p:cNvPr id="8" name="Body2"/>
          <p:cNvSpPr/>
          <p:nvPr/>
        </p:nvSpPr>
        <p:spPr>
          <a:xfrm>
            <a:off x="304800" y="1640000"/>
            <a:ext cx="85344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600" b="0" dirty="0">
                <a:solidFill>
                  <a:srgbClr val="94A3B8"/>
                </a:solidFill>
                <a:latin typeface="Arial" pitchFamily="34" charset="0"/>
              </a:rPr>
              <a:t>No student data is stored on any server — all personalisation happens locally in the browser.</a:t>
            </a:r>
          </a:p>
        </p:txBody>
      </p:sp>
      <p:sp>
        <p:nvSpPr>
          <p:cNvPr id="10" name="Card1"/>
          <p:cNvSpPr/>
          <p:nvPr/>
        </p:nvSpPr>
        <p:spPr>
          <a:xfrm>
            <a:off x="304800" y="2120000"/>
            <a:ext cx="1981200" cy="762000"/>
          </a:xfrm>
          <a:prstGeom prst="roundRect">
            <a:avLst>
              <a:gd name="adj" fmla="val 20000"/>
            </a:avLst>
          </a:prstGeom>
          <a:solidFill>
            <a:srgbClr val="0A2A1F"/>
          </a:solidFill>
          <a:ln w="19050">
            <a:solidFill>
              <a:srgbClr val="10B981"/>
            </a:solidFill>
          </a:ln>
        </p:spPr>
      </p:sp>
      <p:sp>
        <p:nvSpPr>
          <p:cNvPr id="11" name="Card1Txt"/>
          <p:cNvSpPr/>
          <p:nvPr/>
        </p:nvSpPr>
        <p:spPr>
          <a:xfrm>
            <a:off x="304800" y="2120000"/>
            <a:ext cx="1981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 Emoji"/>
              </a:rPr>
              <a:t>🔒</a:t>
            </a:r>
          </a:p>
          <a:p>
            <a:pPr algn="ctr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</a:rPr>
              <a:t>PRIVACY</a:t>
            </a:r>
          </a:p>
        </p:txBody>
      </p:sp>
      <p:sp>
        <p:nvSpPr>
          <p:cNvPr id="12" name="Card2"/>
          <p:cNvSpPr/>
          <p:nvPr/>
        </p:nvSpPr>
        <p:spPr>
          <a:xfrm>
            <a:off x="2514600" y="2120000"/>
            <a:ext cx="1981200" cy="762000"/>
          </a:xfrm>
          <a:prstGeom prst="roundRect">
            <a:avLst>
              <a:gd name="adj" fmla="val 20000"/>
            </a:avLst>
          </a:prstGeom>
          <a:solidFill>
            <a:srgbClr val="0A1F35"/>
          </a:solidFill>
          <a:ln w="19050">
            <a:solidFill>
              <a:srgbClr val="3B82F6"/>
            </a:solidFill>
          </a:ln>
        </p:spPr>
      </p:sp>
      <p:sp>
        <p:nvSpPr>
          <p:cNvPr id="13" name="Card2Txt"/>
          <p:cNvSpPr/>
          <p:nvPr/>
        </p:nvSpPr>
        <p:spPr>
          <a:xfrm>
            <a:off x="2514600" y="2120000"/>
            <a:ext cx="1981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 Emoji"/>
              </a:rPr>
              <a:t>⚖️</a:t>
            </a:r>
          </a:p>
          <a:p>
            <a:pPr algn="ctr">
              <a:buNone/>
            </a:pPr>
            <a:r>
              <a:rPr lang="en-US" sz="1600" b="1" dirty="0">
                <a:solidFill>
                  <a:srgbClr val="3B82F6"/>
                </a:solidFill>
                <a:latin typeface="Arial Black" pitchFamily="34" charset="0"/>
              </a:rPr>
              <a:t>FAIRNESS</a:t>
            </a:r>
          </a:p>
        </p:txBody>
      </p:sp>
      <p:sp>
        <p:nvSpPr>
          <p:cNvPr id="14" name="Card3"/>
          <p:cNvSpPr/>
          <p:nvPr/>
        </p:nvSpPr>
        <p:spPr>
          <a:xfrm>
            <a:off x="4724400" y="2120000"/>
            <a:ext cx="1981200" cy="762000"/>
          </a:xfrm>
          <a:prstGeom prst="roundRect">
            <a:avLst>
              <a:gd name="adj" fmla="val 20000"/>
            </a:avLst>
          </a:prstGeom>
          <a:solidFill>
            <a:srgbClr val="2A1A0A"/>
          </a:solidFill>
          <a:ln w="19050">
            <a:solidFill>
              <a:srgbClr val="F59E0B"/>
            </a:solidFill>
          </a:ln>
        </p:spPr>
      </p:sp>
      <p:sp>
        <p:nvSpPr>
          <p:cNvPr id="15" name="Card3Txt"/>
          <p:cNvSpPr/>
          <p:nvPr/>
        </p:nvSpPr>
        <p:spPr>
          <a:xfrm>
            <a:off x="4724400" y="2120000"/>
            <a:ext cx="1981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 Emoji"/>
              </a:rPr>
              <a:t>🛡️</a:t>
            </a:r>
          </a:p>
          <a:p>
            <a:pPr algn="ctr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</a:rPr>
              <a:t>SAFETY</a:t>
            </a:r>
          </a:p>
        </p:txBody>
      </p:sp>
      <p:sp>
        <p:nvSpPr>
          <p:cNvPr id="16" name="Card4"/>
          <p:cNvSpPr/>
          <p:nvPr/>
        </p:nvSpPr>
        <p:spPr>
          <a:xfrm>
            <a:off x="6934200" y="2120000"/>
            <a:ext cx="1981200" cy="762000"/>
          </a:xfrm>
          <a:prstGeom prst="roundRect">
            <a:avLst>
              <a:gd name="adj" fmla="val 20000"/>
            </a:avLst>
          </a:prstGeom>
          <a:solidFill>
            <a:srgbClr val="1A0A2A"/>
          </a:solidFill>
          <a:ln w="19050">
            <a:solidFill>
              <a:srgbClr val="8B5CF6"/>
            </a:solidFill>
          </a:ln>
        </p:spPr>
      </p:sp>
      <p:sp>
        <p:nvSpPr>
          <p:cNvPr id="17" name="Card4Txt"/>
          <p:cNvSpPr/>
          <p:nvPr/>
        </p:nvSpPr>
        <p:spPr>
          <a:xfrm>
            <a:off x="6934200" y="2120000"/>
            <a:ext cx="1981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 Emoji"/>
              </a:rPr>
              <a:t>♿</a:t>
            </a:r>
          </a:p>
          <a:p>
            <a:pPr algn="ctr">
              <a:buNone/>
            </a:pPr>
            <a:r>
              <a:rPr lang="en-US" sz="1600" b="1" dirty="0">
                <a:solidFill>
                  <a:srgbClr val="8B5CF6"/>
                </a:solidFill>
                <a:latin typeface="Arial Black" pitchFamily="34" charset="0"/>
              </a:rPr>
              <a:t>INCLUSION</a:t>
            </a:r>
          </a:p>
        </p:txBody>
      </p:sp>
      <p:sp>
        <p:nvSpPr>
          <p:cNvPr id="20" name="StatsBG"/>
          <p:cNvSpPr/>
          <p:nvPr/>
        </p:nvSpPr>
        <p:spPr>
          <a:xfrm>
            <a:off x="0" y="3020000"/>
            <a:ext cx="9144000" cy="950000"/>
          </a:xfrm>
          <a:prstGeom prst="rect">
            <a:avLst/>
          </a:prstGeom>
          <a:solidFill>
            <a:srgbClr val="050D1A"/>
          </a:solidFill>
          <a:ln>
            <a:noFill/>
          </a:ln>
        </p:spPr>
      </p:sp>
      <p:sp>
        <p:nvSpPr>
          <p:cNvPr id="21" name="Stat1"/>
          <p:cNvSpPr/>
          <p:nvPr/>
        </p:nvSpPr>
        <p:spPr>
          <a:xfrm>
            <a:off x="304800" y="3070000"/>
            <a:ext cx="27432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</a:rPr>
              <a:t>ZERO DATA</a:t>
            </a:r>
          </a:p>
          <a:p>
            <a:pPr algn="ctr">
              <a:buNone/>
            </a:pPr>
            <a:r>
              <a:rPr lang="en-US" sz="1300" b="0" dirty="0">
                <a:solidFill>
                  <a:srgbClr val="94A3B8"/>
                </a:solidFill>
                <a:latin typeface="Arial" pitchFamily="34" charset="0"/>
              </a:rPr>
              <a:t>stored on any server</a:t>
            </a:r>
          </a:p>
        </p:txBody>
      </p:sp>
      <p:sp>
        <p:nvSpPr>
          <p:cNvPr id="22" name="Stat2"/>
          <p:cNvSpPr/>
          <p:nvPr/>
        </p:nvSpPr>
        <p:spPr>
          <a:xfrm>
            <a:off x="3200400" y="3070000"/>
            <a:ext cx="27432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2600" b="1" dirty="0">
                <a:solidFill>
                  <a:srgbClr val="3B82F6"/>
                </a:solidFill>
                <a:latin typeface="Arial Black" pitchFamily="34" charset="0"/>
              </a:rPr>
              <a:t>100% LOCAL</a:t>
            </a:r>
          </a:p>
          <a:p>
            <a:pPr algn="ctr">
              <a:buNone/>
            </a:pPr>
            <a:r>
              <a:rPr lang="en-US" sz="1300" b="0" dirty="0">
                <a:solidFill>
                  <a:srgbClr val="94A3B8"/>
                </a:solidFill>
                <a:latin typeface="Arial" pitchFamily="34" charset="0"/>
              </a:rPr>
              <a:t>All personalisation in browser</a:t>
            </a:r>
          </a:p>
        </p:txBody>
      </p:sp>
      <p:sp>
        <p:nvSpPr>
          <p:cNvPr id="23" name="Stat3"/>
          <p:cNvSpPr/>
          <p:nvPr/>
        </p:nvSpPr>
        <p:spPr>
          <a:xfrm>
            <a:off x="6096000" y="3070000"/>
            <a:ext cx="27432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2600" b="1" dirty="0">
                <a:solidFill>
                  <a:srgbClr val="8B5CF6"/>
                </a:solidFill>
                <a:latin typeface="Arial Black" pitchFamily="34" charset="0"/>
              </a:rPr>
              <a:t>NO ACCOUNT</a:t>
            </a:r>
          </a:p>
          <a:p>
            <a:pPr algn="ctr">
              <a:buNone/>
            </a:pPr>
            <a:r>
              <a:rPr lang="en-US" sz="1300" b="0" dirty="0">
                <a:solidFill>
                  <a:srgbClr val="94A3B8"/>
                </a:solidFill>
                <a:latin typeface="Arial" pitchFamily="34" charset="0"/>
              </a:rPr>
              <a:t>No tracking. No sign-up.</a:t>
            </a:r>
          </a:p>
        </p:txBody>
      </p:sp>
      <p:sp>
        <p:nvSpPr>
          <p:cNvPr id="30" name="FooterBG"/>
          <p:cNvSpPr/>
          <p:nvPr/>
        </p:nvSpPr>
        <p:spPr>
          <a:xfrm>
            <a:off x="0" y="4120000"/>
            <a:ext cx="9144000" cy="400000"/>
          </a:xfrm>
          <a:prstGeom prst="rect">
            <a:avLst/>
          </a:prstGeom>
          <a:solidFill>
            <a:srgbClr val="062A18"/>
          </a:solidFill>
          <a:ln>
            <a:noFill/>
          </a:ln>
        </p:spPr>
      </p:sp>
      <p:sp>
        <p:nvSpPr>
          <p:cNvPr id="31" name="FooterTxt"/>
          <p:cNvSpPr/>
          <p:nvPr/>
        </p:nvSpPr>
        <p:spPr>
          <a:xfrm>
            <a:off x="0" y="4120000"/>
            <a:ext cx="9144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0" i="1" dirty="0">
                <a:solidFill>
                  <a:srgbClr val="10B981"/>
                </a:solidFill>
                <a:latin typeface="Arial" pitchFamily="34" charset="0"/>
              </a:rPr>
              <a:t>Safe for every student. Private by design. Open to 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ey Lesson"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Label"/>
          <p:cNvSpPr/>
          <p:nvPr/>
        </p:nvSpPr>
        <p:spPr>
          <a:xfrm>
            <a:off x="304800" y="0"/>
            <a:ext cx="50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3B82F6"/>
                </a:solidFill>
                <a:latin typeface="Arial Black" pitchFamily="34" charset="0"/>
              </a:rPr>
              <a:t>KEY LESSON LEARNT</a:t>
            </a:r>
          </a:p>
        </p:txBody>
      </p:sp>
      <p:sp>
        <p:nvSpPr>
          <p:cNvPr id="4" name="QuoteDecor"/>
          <p:cNvSpPr/>
          <p:nvPr/>
        </p:nvSpPr>
        <p:spPr>
          <a:xfrm>
            <a:off x="228600" y="457200"/>
            <a:ext cx="12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en-US" sz="14400" b="1" dirty="0">
                <a:solidFill>
                  <a:srgbClr val="3B82F6">
                    <a:alpha val="25000"/>
                  </a:srgbClr>
                </a:solidFill>
                <a:latin typeface="Georgia" pitchFamily="18" charset="0"/>
              </a:rPr>
              <a:t>“</a:t>
            </a:r>
          </a:p>
        </p:txBody>
      </p:sp>
      <p:sp>
        <p:nvSpPr>
          <p:cNvPr id="5" name="QuoteLine1"/>
          <p:cNvSpPr/>
          <p:nvPr/>
        </p:nvSpPr>
        <p:spPr>
          <a:xfrm>
            <a:off x="304800" y="600000"/>
            <a:ext cx="85344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</a:rPr>
              <a:t>Design </a:t>
            </a:r>
            <a:r>
              <a:rPr lang="en-US" sz="3200" b="1" dirty="0">
                <a:solidFill>
                  <a:srgbClr val="3B82F6"/>
                </a:solidFill>
                <a:latin typeface="Arial Black" pitchFamily="34" charset="0"/>
              </a:rPr>
              <a:t>with</a:t>
            </a: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</a:rPr>
              <a:t> people,</a:t>
            </a:r>
          </a:p>
        </p:txBody>
      </p:sp>
      <p:sp>
        <p:nvSpPr>
          <p:cNvPr id="6" name="QuoteLine2"/>
          <p:cNvSpPr/>
          <p:nvPr/>
        </p:nvSpPr>
        <p:spPr>
          <a:xfrm>
            <a:off x="304800" y="1200000"/>
            <a:ext cx="85344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3200" b="1" dirty="0">
                <a:solidFill>
                  <a:srgbClr val="94A3B8"/>
                </a:solidFill>
                <a:latin typeface="Arial Black" pitchFamily="34" charset="0"/>
              </a:rPr>
              <a:t>not just </a:t>
            </a:r>
            <a:r>
              <a:rPr lang="en-US" sz="3200" b="1" i="1" dirty="0">
                <a:solidFill>
                  <a:srgbClr val="94A3B8"/>
                </a:solidFill>
                <a:latin typeface="Arial Black" pitchFamily="34" charset="0"/>
              </a:rPr>
              <a:t>for</a:t>
            </a:r>
            <a:r>
              <a:rPr lang="en-US" sz="3200" b="1" dirty="0">
                <a:solidFill>
                  <a:srgbClr val="94A3B8"/>
                </a:solidFill>
                <a:latin typeface="Arial Black" pitchFamily="34" charset="0"/>
              </a:rPr>
              <a:t> them.</a:t>
            </a:r>
          </a:p>
        </p:txBody>
      </p:sp>
      <p:sp>
        <p:nvSpPr>
          <p:cNvPr id="7" name="AccentLine"/>
          <p:cNvSpPr/>
          <p:nvPr/>
        </p:nvSpPr>
        <p:spPr>
          <a:xfrm>
            <a:off x="3048000" y="1880000"/>
            <a:ext cx="304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8" name="BodyText"/>
          <p:cNvSpPr/>
          <p:nvPr/>
        </p:nvSpPr>
        <p:spPr>
          <a:xfrm>
            <a:off x="304800" y="1970000"/>
            <a:ext cx="85344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600" b="0" dirty="0">
                <a:solidFill>
                  <a:srgbClr val="94A3B8"/>
                </a:solidFill>
                <a:latin typeface="Arial" pitchFamily="34" charset="0"/>
              </a:rPr>
              <a:t>Our team learnt an important lesson —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</a:rPr>
              <a:t>real user feedback is essential</a:t>
            </a:r>
            <a:r>
              <a:rPr lang="en-US" sz="1600" b="0" dirty="0">
                <a:solidFill>
                  <a:srgbClr val="94A3B8"/>
                </a:solidFill>
                <a:latin typeface="Arial" pitchFamily="34" charset="0"/>
              </a:rPr>
              <a:t> to building truly inclusive technology.</a:t>
            </a:r>
          </a:p>
        </p:txBody>
      </p:sp>
      <p:sp>
        <p:nvSpPr>
          <p:cNvPr id="10" name="Card1BG"/>
          <p:cNvSpPr/>
          <p:nvPr/>
        </p:nvSpPr>
        <p:spPr>
          <a:xfrm>
            <a:off x="304800" y="2880000"/>
            <a:ext cx="2590800" cy="762000"/>
          </a:xfrm>
          <a:prstGeom prst="roundRect">
            <a:avLst>
              <a:gd name="adj" fmla="val 15000"/>
            </a:avLst>
          </a:prstGeom>
          <a:solidFill>
            <a:srgbClr val="0A1F35"/>
          </a:solidFill>
          <a:ln w="19050">
            <a:solidFill>
              <a:srgbClr val="3B82F6"/>
            </a:solidFill>
          </a:ln>
        </p:spPr>
      </p:sp>
      <p:sp>
        <p:nvSpPr>
          <p:cNvPr id="11" name="Card1Txt"/>
          <p:cNvSpPr/>
          <p:nvPr/>
        </p:nvSpPr>
        <p:spPr>
          <a:xfrm>
            <a:off x="304800" y="2880000"/>
            <a:ext cx="2590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2000" dirty="0">
                <a:solidFill>
                  <a:srgbClr val="FFFFFF"/>
                </a:solidFill>
                <a:latin typeface="Segoe UI Emoji"/>
              </a:rPr>
              <a:t>👂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3B82F6"/>
                </a:solidFill>
                <a:latin typeface="Arial Black" pitchFamily="34" charset="0"/>
              </a:rPr>
              <a:t>LISTEN FIRST</a:t>
            </a:r>
          </a:p>
          <a:p>
            <a:pPr algn="ctr">
              <a:buNone/>
            </a:pPr>
            <a:r>
              <a:rPr lang="en-US" sz="1100" b="0" dirty="0">
                <a:solidFill>
                  <a:srgbClr val="64748B"/>
                </a:solidFill>
                <a:latin typeface="Arial" pitchFamily="34" charset="0"/>
              </a:rPr>
              <a:t>Talk to real users before building</a:t>
            </a:r>
          </a:p>
        </p:txBody>
      </p:sp>
      <p:sp>
        <p:nvSpPr>
          <p:cNvPr id="12" name="Card2BG"/>
          <p:cNvSpPr/>
          <p:nvPr/>
        </p:nvSpPr>
        <p:spPr>
          <a:xfrm>
            <a:off x="3085800" y="2880000"/>
            <a:ext cx="2590800" cy="762000"/>
          </a:xfrm>
          <a:prstGeom prst="roundRect">
            <a:avLst>
              <a:gd name="adj" fmla="val 15000"/>
            </a:avLst>
          </a:prstGeom>
          <a:solidFill>
            <a:srgbClr val="0A2A1F"/>
          </a:solidFill>
          <a:ln w="19050">
            <a:solidFill>
              <a:srgbClr val="10B981"/>
            </a:solidFill>
          </a:ln>
        </p:spPr>
      </p:sp>
      <p:sp>
        <p:nvSpPr>
          <p:cNvPr id="13" name="Card2Txt"/>
          <p:cNvSpPr/>
          <p:nvPr/>
        </p:nvSpPr>
        <p:spPr>
          <a:xfrm>
            <a:off x="3085800" y="2880000"/>
            <a:ext cx="2590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2000" dirty="0">
                <a:solidFill>
                  <a:srgbClr val="FFFFFF"/>
                </a:solidFill>
                <a:latin typeface="Segoe UI Emoji"/>
              </a:rPr>
              <a:t>🔄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10B981"/>
                </a:solidFill>
                <a:latin typeface="Arial Black" pitchFamily="34" charset="0"/>
              </a:rPr>
              <a:t>KEEP ITERATING</a:t>
            </a:r>
          </a:p>
          <a:p>
            <a:pPr algn="ctr">
              <a:buNone/>
            </a:pPr>
            <a:r>
              <a:rPr lang="en-US" sz="1100" b="0" dirty="0">
                <a:solidFill>
                  <a:srgbClr val="64748B"/>
                </a:solidFill>
                <a:latin typeface="Arial" pitchFamily="34" charset="0"/>
              </a:rPr>
              <a:t>Every problem became a feature</a:t>
            </a:r>
          </a:p>
        </p:txBody>
      </p:sp>
      <p:sp>
        <p:nvSpPr>
          <p:cNvPr id="14" name="Card3BG"/>
          <p:cNvSpPr/>
          <p:nvPr/>
        </p:nvSpPr>
        <p:spPr>
          <a:xfrm>
            <a:off x="5866800" y="2880000"/>
            <a:ext cx="2590800" cy="762000"/>
          </a:xfrm>
          <a:prstGeom prst="roundRect">
            <a:avLst>
              <a:gd name="adj" fmla="val 15000"/>
            </a:avLst>
          </a:prstGeom>
          <a:solidFill>
            <a:srgbClr val="1A0A2A"/>
          </a:solidFill>
          <a:ln w="19050">
            <a:solidFill>
              <a:srgbClr val="8B5CF6"/>
            </a:solidFill>
          </a:ln>
        </p:spPr>
      </p:sp>
      <p:sp>
        <p:nvSpPr>
          <p:cNvPr id="15" name="Card3Txt"/>
          <p:cNvSpPr/>
          <p:nvPr/>
        </p:nvSpPr>
        <p:spPr>
          <a:xfrm>
            <a:off x="5866800" y="2880000"/>
            <a:ext cx="2590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2000" dirty="0">
                <a:solidFill>
                  <a:srgbClr val="FFFFFF"/>
                </a:solidFill>
                <a:latin typeface="Segoe UI Emoji"/>
              </a:rPr>
              <a:t>🤝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rial Black" pitchFamily="34" charset="0"/>
              </a:rPr>
              <a:t>INCLUDE ALWAYS</a:t>
            </a:r>
          </a:p>
          <a:p>
            <a:pPr algn="ctr">
              <a:buNone/>
            </a:pPr>
            <a:r>
              <a:rPr lang="en-US" sz="1100" b="0" dirty="0">
                <a:solidFill>
                  <a:srgbClr val="64748B"/>
                </a:solidFill>
                <a:latin typeface="Arial" pitchFamily="34" charset="0"/>
              </a:rPr>
              <a:t>Users shaped every decision</a:t>
            </a:r>
          </a:p>
        </p:txBody>
      </p:sp>
      <p:sp>
        <p:nvSpPr>
          <p:cNvPr id="20" name="TesterBG"/>
          <p:cNvSpPr/>
          <p:nvPr/>
        </p:nvSpPr>
        <p:spPr>
          <a:xfrm>
            <a:off x="0" y="3750000"/>
            <a:ext cx="9144000" cy="380000"/>
          </a:xfrm>
          <a:prstGeom prst="rect">
            <a:avLst/>
          </a:prstGeom>
          <a:solidFill>
            <a:srgbClr val="0A1F35"/>
          </a:solidFill>
          <a:ln>
            <a:noFill/>
          </a:ln>
        </p:spPr>
      </p:sp>
      <p:sp>
        <p:nvSpPr>
          <p:cNvPr id="21" name="TesterTxt"/>
          <p:cNvSpPr/>
          <p:nvPr/>
        </p:nvSpPr>
        <p:spPr>
          <a:xfrm>
            <a:off x="0" y="3750000"/>
            <a:ext cx="9144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300" b="0" dirty="0">
                <a:solidFill>
                  <a:srgbClr val="64748B"/>
                </a:solidFill>
                <a:latin typeface="Arial" pitchFamily="34" charset="0"/>
              </a:rPr>
              <a:t>Tested with 3 visually impaired students  •  Special needs coordinator  •  2 teachers  •  Laxman’s feedback shaped every major change</a:t>
            </a:r>
          </a:p>
        </p:txBody>
      </p:sp>
      <p:sp>
        <p:nvSpPr>
          <p:cNvPr id="30" name="FooterBG"/>
          <p:cNvSpPr/>
          <p:nvPr/>
        </p:nvSpPr>
        <p:spPr>
          <a:xfrm>
            <a:off x="0" y="4220000"/>
            <a:ext cx="9144000" cy="400000"/>
          </a:xfrm>
          <a:prstGeom prst="rect">
            <a:avLst/>
          </a:prstGeom>
          <a:solidFill>
            <a:srgbClr val="061A35"/>
          </a:solidFill>
          <a:ln>
            <a:noFill/>
          </a:ln>
        </p:spPr>
      </p:sp>
      <p:sp>
        <p:nvSpPr>
          <p:cNvPr id="31" name="FooterTxt"/>
          <p:cNvSpPr/>
          <p:nvPr/>
        </p:nvSpPr>
        <p:spPr>
          <a:xfrm>
            <a:off x="0" y="4220000"/>
            <a:ext cx="9144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0" i="1" dirty="0">
                <a:solidFill>
                  <a:srgbClr val="3B82F6"/>
                </a:solidFill>
                <a:latin typeface="Arial" pitchFamily="34" charset="0"/>
              </a:rPr>
              <a:t>The people you build for are the most important part of the process.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6400800" cy="6400800"/>
          </a:xfrm>
          <a:prstGeom prst="ellipse">
            <a:avLst/>
          </a:prstGeom>
          <a:solidFill>
            <a:srgbClr val="1E3A8A">
              <a:alpha val="22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5486400" cy="5486400"/>
          </a:xfrm>
          <a:prstGeom prst="ellipse">
            <a:avLst/>
          </a:prstGeom>
          <a:solidFill>
            <a:srgbClr val="4C1D95">
              <a:alpha val="20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9144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SARA AI</a:t>
            </a:r>
            <a:endParaRPr lang="en-US" sz="68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Accessible Reader &amp; Assistant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9443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Features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67128" y="3035808"/>
            <a:ext cx="36576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40280" y="29443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Voice Commands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13048" y="3035808"/>
            <a:ext cx="36576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86200" y="29443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Languages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58968" y="3035808"/>
            <a:ext cx="36576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32120" y="29443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253M People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04888" y="3035808"/>
            <a:ext cx="36576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78040" y="29443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97280" y="3493008"/>
            <a:ext cx="69494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097280" y="3493008"/>
            <a:ext cx="69494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3547872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❝ Created with love for the ones who can make this world a beautiful place to live in ❞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160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One of the Greatest Innovations of the Decade  ✦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535424"/>
            <a:ext cx="82296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645152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05840" y="45537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&amp; Developers:  </a:t>
            </a:r>
            <a:r>
              <a:rPr lang="en-US" sz="15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Rai  &amp;  Sparsh Ruhela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005840" y="4892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Mentor: </a:t>
            </a: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Vineeta Garg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🏫 Shaheed Rajpal DAV Public School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2209</Words>
  <Application>Microsoft Office PowerPoint</Application>
  <PresentationFormat>On-screen Show (16:9)</PresentationFormat>
  <Paragraphs>459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Black</vt:lpstr>
      <vt:lpstr>Calibri</vt:lpstr>
      <vt:lpstr>Consolas</vt:lpstr>
      <vt:lpstr>Georgia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SARA AI — Competition Presentation</dc:title>
  <dc:subject>PptxGenJS Presentation</dc:subject>
  <dc:creator>Aditya Rai &amp; Sparsh Ruhela</dc:creator>
  <cp:lastModifiedBy>Dhirendra Rai</cp:lastModifiedBy>
  <cp:revision>2</cp:revision>
  <dcterms:created xsi:type="dcterms:W3CDTF">2026-03-10T11:00:58Z</dcterms:created>
  <dcterms:modified xsi:type="dcterms:W3CDTF">2026-03-11T17:07:20Z</dcterms:modified>
</cp:coreProperties>
</file>